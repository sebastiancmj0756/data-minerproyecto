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C5A87A15-FC82-6ED3-6697-AC155446F61D}">
          <p14:sldIdLst>
            <p14:sldId id="256"/>
          </p14:sldIdLst>
        </p14:section>
        <p14:section name="Problema y datos" id="{86B4D5BC-BFE8-EE94-4E8A-AABDA2BBEC6E}">
          <p14:sldIdLst>
            <p14:sldId id="257"/>
            <p14:sldId id="258"/>
            <p14:sldId id="259"/>
          </p14:sldIdLst>
        </p14:section>
        <p14:section name="Hallazgos" id="{7D4EB0FF-05DC-1223-84BF-9A6C177D0DD2}">
          <p14:sldIdLst>
            <p14:sldId id="260"/>
          </p14:sldIdLst>
        </p14:section>
        <p14:section name="Cierre" id="{6FAD03F5-F93E-6728-A775-5389FF42515C}">
          <p14:sldIdLst>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800" autoAdjust="0"/>
    <p:restoredTop sz="94610"/>
  </p:normalViewPr>
  <p:slideViewPr>
    <p:cSldViewPr snapToGrid="0" snapToObjects="1">
      <p:cViewPr varScale="1">
        <p:scale>
          <a:sx n="152" d="100"/>
          <a:sy n="152" d="100"/>
        </p:scale>
        <p:origin x="6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315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Presenta el proyecto: usamos datos de wearables (acelerometría triaxial y fotopletismografía) más registros de sueño para detectar tempranamente hábitos de riesgo en personas que parecen activas pero pasan casi todo el día sedentarias. Trabajamos con 33 usuarios y 868 días de datos limpios.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el 'sedentario activo' camina lo suficiente para no levantar alertas, pero pasa dos tercios del día sin moverse. Las cifras vienen del EDA sobre el dataset limpio. La propuesta es combinar sensores, sueño y clima para detectarlo temprano.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Data Lakehouse local en tres capas: crudo, intermedio y final. Los datos originales jamás se modifican a mano; todo pasa por código, así el pipeline es trazable y reproducible. Dos clases hacen el trabajo: SensoresDataCleaner y SensoresDataTransformer.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limpieza convierte un Excel con artefactos en una tabla confiable: quitamos dos columnas fantasma, normalizamos fechas, integramos el sueño (que calcula Eficiencia_Sueño), filtramos 72 días en que el tracker no se usó y tratamos outliers con IQR en pasos, calorías y minutos muy activos.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EDA: los minutos muy activos son el mejor predictor de pasos y calorías, y los días más sedentarios son también los de menor sueño (r = −0,67). Ojo: el sueño solo está registrado en ~30 % de los días, así que esa correlación se calcula sobre esa parte.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Escalado selectivo, no global: cada variable recibe la técnica que le corresponde según su distribución. RobustScaler para las que tienen outliers, MinMaxScaler para las acotadas y One-Hot para las categóricas. El resultado es una matriz de 868 filas y 17 columnas.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artefacto es un árbol de decisión que cualquier médico o analista puede leer: pasos, minutos de actividad intensa, calorías y horas de sueño. Sirve para automatizar alertas tempranas, pero con umbrales fijos puede dar falsos positivos. Faltan variables como frecuencia cardiaca en reposo, edad y nivel de estrés.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ya tenemos un pipeline reproducible, una matriz de features y un primer árbol de reglas. Lo que sigue es corregir la escala de las columnas de distancia, resolver el sueño faltante y entrenar el modelo con variables adicionales.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ITCH_DARK_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0"/>
            <a:ext cx="5212080" cy="146304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ITCH_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3" name="Text 0"/>
          <p:cNvSpPr/>
          <p:nvPr/>
        </p:nvSpPr>
        <p:spPr>
          <a:xfrm>
            <a:off x="548640" y="4828032"/>
            <a:ext cx="4572000" cy="228600"/>
          </a:xfrm>
          <a:prstGeom prst="rect">
            <a:avLst/>
          </a:prstGeom>
          <a:noFill/>
          <a:ln/>
        </p:spPr>
        <p:txBody>
          <a:bodyPr wrap="square" lIns="0" tIns="0" rIns="0" bIns="0" rtlCol="0" anchor="ctr"/>
          <a:lstStyle/>
          <a:p>
            <a:pPr marL="0" indent="0">
              <a:buNone/>
            </a:pPr>
            <a:r>
              <a:rPr lang="en-US" sz="1000" dirty="0">
                <a:solidFill>
                  <a:schemeClr val="accent5"/>
                </a:solidFill>
              </a:rPr>
              <a:t>Data-MinerProyecto · Pitch</a:t>
            </a:r>
            <a:endParaRPr lang="en-US" sz="10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ITCH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p:nvPr/>
        </p:nvSpPr>
        <p:spPr>
          <a:xfrm>
            <a:off x="548640" y="4828032"/>
            <a:ext cx="4572000" cy="228600"/>
          </a:xfrm>
          <a:prstGeom prst="rect">
            <a:avLst/>
          </a:prstGeom>
          <a:noFill/>
          <a:ln/>
        </p:spPr>
        <p:txBody>
          <a:bodyPr wrap="square" lIns="0" tIns="0" rIns="0" bIns="0" rtlCol="0" anchor="ctr"/>
          <a:lstStyle/>
          <a:p>
            <a:pPr marL="0" indent="0">
              <a:buNone/>
            </a:pPr>
            <a:r>
              <a:rPr lang="en-US" sz="1000" dirty="0">
                <a:solidFill>
                  <a:schemeClr val="accent4"/>
                </a:solidFill>
              </a:rPr>
              <a:t>Data-MinerProyecto · Pitch</a:t>
            </a:r>
            <a:endParaRPr lang="en-US" sz="10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4572000" cy="274320"/>
          </a:xfrm>
          <a:prstGeom prst="rect">
            <a:avLst/>
          </a:prstGeom>
          <a:noFill/>
          <a:ln/>
        </p:spPr>
        <p:txBody>
          <a:bodyPr wrap="square" lIns="0" tIns="0" rIns="0" bIns="0" rtlCol="0" anchor="t"/>
          <a:lstStyle/>
          <a:p>
            <a:pPr marL="0" indent="0">
              <a:buNone/>
            </a:pPr>
            <a:r>
              <a:rPr lang="en-US" sz="1200" b="1" kern="0" spc="300" dirty="0">
                <a:solidFill>
                  <a:schemeClr val="accent4"/>
                </a:solidFill>
              </a:rPr>
              <a:t>PITCH · MINERÍA DE DATOS</a:t>
            </a:r>
            <a:endParaRPr lang="en-US" sz="1200" dirty="0"/>
          </a:p>
        </p:txBody>
      </p:sp>
      <p:sp>
        <p:nvSpPr>
          <p:cNvPr id="3" name="Text 0"/>
          <p:cNvSpPr>
            <a:spLocks noGrp="1"/>
          </p:cNvSpPr>
          <p:nvPr>
            <p:ph type="title" idx="100" hasCustomPrompt="1"/>
          </p:nvPr>
        </p:nvSpPr>
        <p:spPr>
          <a:xfrm>
            <a:off x="548640" y="1143000"/>
            <a:ext cx="5212080" cy="1463040"/>
          </a:xfrm>
          <a:prstGeom prst="rect">
            <a:avLst/>
          </a:prstGeom>
          <a:noFill/>
          <a:ln/>
        </p:spPr>
        <p:txBody>
          <a:bodyPr wrap="square" lIns="0" tIns="0" rIns="0" bIns="0" rtlCol="0" anchor="t"/>
          <a:lstStyle/>
          <a:p>
            <a:pPr marL="0" indent="0" algn="l">
              <a:buNone/>
            </a:pPr>
            <a:r>
              <a:rPr lang="es-CO" sz="3800" b="1" dirty="0" smtClean="0">
                <a:solidFill>
                  <a:schemeClr val="bg1"/>
                </a:solidFill>
              </a:rPr>
              <a:t>Proyecto Sedentarios activos</a:t>
            </a:r>
            <a:endParaRPr lang="es-CO" sz="3800" dirty="0"/>
          </a:p>
        </p:txBody>
      </p:sp>
      <p:sp>
        <p:nvSpPr>
          <p:cNvPr id="4" name="Text 2"/>
          <p:cNvSpPr txBox="1"/>
          <p:nvPr/>
        </p:nvSpPr>
        <p:spPr>
          <a:xfrm>
            <a:off x="548640" y="2743200"/>
            <a:ext cx="4937760" cy="960120"/>
          </a:xfrm>
          <a:prstGeom prst="rect">
            <a:avLst/>
          </a:prstGeom>
          <a:noFill/>
          <a:ln/>
        </p:spPr>
        <p:txBody>
          <a:bodyPr wrap="square" lIns="0" tIns="0" rIns="0" bIns="0" rtlCol="0" anchor="t"/>
          <a:lstStyle/>
          <a:p>
            <a:r>
              <a:rPr lang="es-CO" sz="1600" dirty="0" smtClean="0">
                <a:solidFill>
                  <a:schemeClr val="bg1"/>
                </a:solidFill>
              </a:rPr>
              <a:t>Proyecto </a:t>
            </a:r>
            <a:r>
              <a:rPr lang="es-CO" sz="1600" dirty="0" err="1" smtClean="0">
                <a:solidFill>
                  <a:schemeClr val="bg1"/>
                </a:solidFill>
              </a:rPr>
              <a:t>Wearable</a:t>
            </a:r>
            <a:r>
              <a:rPr lang="es-CO" sz="1600" dirty="0" smtClean="0">
                <a:solidFill>
                  <a:schemeClr val="bg1"/>
                </a:solidFill>
              </a:rPr>
              <a:t>: Gemelo Digital y Minería de Datos en Sensores de Sedentarismo</a:t>
            </a:r>
            <a:br>
              <a:rPr lang="es-CO" sz="1600" dirty="0" smtClean="0">
                <a:solidFill>
                  <a:schemeClr val="bg1"/>
                </a:solidFill>
              </a:rPr>
            </a:br>
            <a:r>
              <a:rPr lang="es-CO" sz="1600" dirty="0" smtClean="0">
                <a:solidFill>
                  <a:schemeClr val="bg1"/>
                </a:solidFill>
              </a:rPr>
              <a:t>José  Camilo Rodríguez Ortegón</a:t>
            </a:r>
            <a:br>
              <a:rPr lang="es-CO" sz="1600" dirty="0" smtClean="0">
                <a:solidFill>
                  <a:schemeClr val="bg1"/>
                </a:solidFill>
              </a:rPr>
            </a:br>
            <a:r>
              <a:rPr lang="es-CO" sz="1600" dirty="0" smtClean="0">
                <a:solidFill>
                  <a:schemeClr val="bg1"/>
                </a:solidFill>
                <a:latin typeface="Heebo Light" pitchFamily="34" charset="0"/>
                <a:ea typeface="Heebo Light" pitchFamily="34" charset="-122"/>
                <a:cs typeface="Heebo Light" pitchFamily="34" charset="0"/>
              </a:rPr>
              <a:t>Juan Sebastian Calderón Martínez  </a:t>
            </a:r>
            <a:endParaRPr lang="es-CO" sz="1600" dirty="0">
              <a:solidFill>
                <a:schemeClr val="bg1"/>
              </a:solidFill>
            </a:endParaRPr>
          </a:p>
        </p:txBody>
      </p:sp>
      <p:sp>
        <p:nvSpPr>
          <p:cNvPr id="5" name="Chip usuarios"/>
          <p:cNvSpPr/>
          <p:nvPr/>
        </p:nvSpPr>
        <p:spPr>
          <a:xfrm>
            <a:off x="-649540" y="4032819"/>
            <a:ext cx="1554480" cy="411480"/>
          </a:xfrm>
          <a:prstGeom prst="roundRect">
            <a:avLst>
              <a:gd name="adj" fmla="val 26667"/>
            </a:avLst>
          </a:prstGeom>
          <a:solidFill>
            <a:schemeClr val="tx2"/>
          </a:solidFill>
          <a:ln w="12700">
            <a:solidFill>
              <a:schemeClr val="tx2"/>
            </a:solidFill>
            <a:prstDash val="solid"/>
          </a:ln>
        </p:spPr>
        <p:txBody>
          <a:bodyPr/>
          <a:lstStyle/>
          <a:p>
            <a:endParaRPr lang="es-CO"/>
          </a:p>
        </p:txBody>
      </p:sp>
      <p:sp>
        <p:nvSpPr>
          <p:cNvPr id="7" name="Chip días"/>
          <p:cNvSpPr/>
          <p:nvPr/>
        </p:nvSpPr>
        <p:spPr>
          <a:xfrm>
            <a:off x="8229600" y="4320540"/>
            <a:ext cx="1554480" cy="411480"/>
          </a:xfrm>
          <a:prstGeom prst="roundRect">
            <a:avLst>
              <a:gd name="adj" fmla="val 26667"/>
            </a:avLst>
          </a:prstGeom>
          <a:solidFill>
            <a:schemeClr val="tx2"/>
          </a:solidFill>
          <a:ln w="12700">
            <a:solidFill>
              <a:schemeClr val="tx2"/>
            </a:solidFill>
            <a:prstDash val="solid"/>
          </a:ln>
        </p:spPr>
        <p:txBody>
          <a:bodyPr/>
          <a:lstStyle/>
          <a:p>
            <a:endParaRPr lang="es-CO"/>
          </a:p>
        </p:txBody>
      </p:sp>
      <p:sp>
        <p:nvSpPr>
          <p:cNvPr id="9" name="Círculo principal"/>
          <p:cNvSpPr/>
          <p:nvPr/>
        </p:nvSpPr>
        <p:spPr>
          <a:xfrm>
            <a:off x="5989320" y="868680"/>
            <a:ext cx="2834640" cy="2834640"/>
          </a:xfrm>
          <a:prstGeom prst="ellipse">
            <a:avLst/>
          </a:prstGeom>
          <a:solidFill>
            <a:schemeClr val="tx2"/>
          </a:solidFill>
          <a:ln w="12700">
            <a:solidFill>
              <a:schemeClr val="tx2"/>
            </a:solidFill>
            <a:prstDash val="solid"/>
          </a:ln>
        </p:spPr>
        <p:txBody>
          <a:bodyPr/>
          <a:lstStyle/>
          <a:p>
            <a:endParaRPr lang="es-CO"/>
          </a:p>
        </p:txBody>
      </p:sp>
      <p:sp>
        <p:nvSpPr>
          <p:cNvPr id="10" name="Círculo corazón"/>
          <p:cNvSpPr/>
          <p:nvPr/>
        </p:nvSpPr>
        <p:spPr>
          <a:xfrm>
            <a:off x="6400800" y="1280160"/>
            <a:ext cx="2011680" cy="2011680"/>
          </a:xfrm>
          <a:prstGeom prst="ellipse">
            <a:avLst/>
          </a:prstGeom>
          <a:solidFill>
            <a:schemeClr val="accent1"/>
          </a:solidFill>
          <a:ln w="12700">
            <a:solidFill>
              <a:schemeClr val="accent1"/>
            </a:solidFill>
            <a:prstDash val="solid"/>
          </a:ln>
        </p:spPr>
        <p:txBody>
          <a:bodyPr/>
          <a:lstStyle/>
          <a:p>
            <a:endParaRPr lang="es-CO"/>
          </a:p>
        </p:txBody>
      </p:sp>
      <p:pic>
        <p:nvPicPr>
          <p:cNvPr id="11" name="Icono pulso" descr="Icono de pulso cardíaco"/>
          <p:cNvPicPr>
            <a:picLocks noChangeAspect="1"/>
          </p:cNvPicPr>
          <p:nvPr/>
        </p:nvPicPr>
        <p:blipFill>
          <a:blip r:embed="rId3"/>
          <a:stretch>
            <a:fillRect/>
          </a:stretch>
        </p:blipFill>
        <p:spPr>
          <a:xfrm>
            <a:off x="6949440" y="1828800"/>
            <a:ext cx="914400" cy="914400"/>
          </a:xfrm>
          <a:prstGeom prst="rect">
            <a:avLst/>
          </a:prstGeom>
        </p:spPr>
      </p:pic>
      <p:sp>
        <p:nvSpPr>
          <p:cNvPr id="12" name="Badge caminar círculo"/>
          <p:cNvSpPr/>
          <p:nvPr/>
        </p:nvSpPr>
        <p:spPr>
          <a:xfrm>
            <a:off x="5806440" y="3063240"/>
            <a:ext cx="731520" cy="731520"/>
          </a:xfrm>
          <a:prstGeom prst="ellipse">
            <a:avLst/>
          </a:prstGeom>
          <a:solidFill>
            <a:srgbClr val="1FA89A"/>
          </a:solidFill>
          <a:ln w="12700">
            <a:solidFill>
              <a:srgbClr val="1FA89A"/>
            </a:solidFill>
            <a:prstDash val="solid"/>
          </a:ln>
        </p:spPr>
        <p:txBody>
          <a:bodyPr/>
          <a:lstStyle/>
          <a:p>
            <a:endParaRPr lang="es-CO"/>
          </a:p>
        </p:txBody>
      </p:sp>
      <p:pic>
        <p:nvPicPr>
          <p:cNvPr id="13" name="Badge caminar icono" descr="Badge caminar"/>
          <p:cNvPicPr>
            <a:picLocks noChangeAspect="1"/>
          </p:cNvPicPr>
          <p:nvPr/>
        </p:nvPicPr>
        <p:blipFill>
          <a:blip r:embed="rId4"/>
          <a:stretch>
            <a:fillRect/>
          </a:stretch>
        </p:blipFill>
        <p:spPr>
          <a:xfrm>
            <a:off x="5974690" y="3231490"/>
            <a:ext cx="395021" cy="395021"/>
          </a:xfrm>
          <a:prstGeom prst="rect">
            <a:avLst/>
          </a:prstGeom>
        </p:spPr>
      </p:pic>
      <p:sp>
        <p:nvSpPr>
          <p:cNvPr id="14" name="Badge sueño círculo"/>
          <p:cNvSpPr/>
          <p:nvPr/>
        </p:nvSpPr>
        <p:spPr>
          <a:xfrm>
            <a:off x="8229600" y="731520"/>
            <a:ext cx="731520" cy="731520"/>
          </a:xfrm>
          <a:prstGeom prst="ellipse">
            <a:avLst/>
          </a:prstGeom>
          <a:solidFill>
            <a:srgbClr val="F2B84B"/>
          </a:solidFill>
          <a:ln w="12700">
            <a:solidFill>
              <a:srgbClr val="F2B84B"/>
            </a:solidFill>
            <a:prstDash val="solid"/>
          </a:ln>
        </p:spPr>
        <p:txBody>
          <a:bodyPr/>
          <a:lstStyle/>
          <a:p>
            <a:endParaRPr lang="es-CO"/>
          </a:p>
        </p:txBody>
      </p:sp>
      <p:pic>
        <p:nvPicPr>
          <p:cNvPr id="15" name="Badge sueño icono" descr="Badge sueño"/>
          <p:cNvPicPr>
            <a:picLocks noChangeAspect="1"/>
          </p:cNvPicPr>
          <p:nvPr/>
        </p:nvPicPr>
        <p:blipFill>
          <a:blip r:embed="rId5"/>
          <a:stretch>
            <a:fillRect/>
          </a:stretch>
        </p:blipFill>
        <p:spPr>
          <a:xfrm>
            <a:off x="8397850" y="899770"/>
            <a:ext cx="395021" cy="395021"/>
          </a:xfrm>
          <a:prstGeom prst="rect">
            <a:avLst/>
          </a:prstGeom>
        </p:spPr>
      </p:pic>
      <p:sp>
        <p:nvSpPr>
          <p:cNvPr id="16" name="Chip días"/>
          <p:cNvSpPr/>
          <p:nvPr/>
        </p:nvSpPr>
        <p:spPr>
          <a:xfrm>
            <a:off x="-461463" y="18131"/>
            <a:ext cx="1554480" cy="411480"/>
          </a:xfrm>
          <a:prstGeom prst="roundRect">
            <a:avLst>
              <a:gd name="adj" fmla="val 26667"/>
            </a:avLst>
          </a:prstGeom>
          <a:solidFill>
            <a:schemeClr val="tx2"/>
          </a:solidFill>
          <a:ln w="12700">
            <a:solidFill>
              <a:schemeClr val="tx2"/>
            </a:solidFill>
            <a:prstDash val="solid"/>
          </a:ln>
        </p:spPr>
        <p:txBody>
          <a:bodyPr/>
          <a:lstStyle/>
          <a:p>
            <a:endParaRPr lang="es-CO"/>
          </a:p>
        </p:txBody>
      </p:sp>
      <p:sp>
        <p:nvSpPr>
          <p:cNvPr id="17" name="Chip días"/>
          <p:cNvSpPr/>
          <p:nvPr/>
        </p:nvSpPr>
        <p:spPr>
          <a:xfrm>
            <a:off x="4000766" y="4844842"/>
            <a:ext cx="1554480" cy="411480"/>
          </a:xfrm>
          <a:prstGeom prst="roundRect">
            <a:avLst>
              <a:gd name="adj" fmla="val 26667"/>
            </a:avLst>
          </a:prstGeom>
          <a:solidFill>
            <a:schemeClr val="tx2"/>
          </a:solidFill>
          <a:ln w="12700">
            <a:solidFill>
              <a:schemeClr val="tx2"/>
            </a:solidFill>
            <a:prstDash val="solid"/>
          </a:ln>
        </p:spPr>
        <p:txBody>
          <a:bodyPr/>
          <a:lstStyle/>
          <a:p>
            <a:endParaRPr lang="es-CO"/>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4635062" cy="777240"/>
          </a:xfrm>
          <a:prstGeom prst="rect">
            <a:avLst/>
          </a:prstGeom>
          <a:noFill/>
          <a:ln/>
        </p:spPr>
        <p:txBody>
          <a:bodyPr wrap="square" lIns="0" tIns="0" rIns="0" bIns="0" rtlCol="0" anchor="ctr"/>
          <a:lstStyle/>
          <a:p>
            <a:pPr marL="0" indent="0" algn="l">
              <a:buNone/>
            </a:pPr>
            <a:r>
              <a:rPr lang="es-CO" sz="3600" b="1" dirty="0" smtClean="0">
                <a:solidFill>
                  <a:schemeClr val="tx1"/>
                </a:solidFill>
              </a:rPr>
              <a:t>Primer problema</a:t>
            </a:r>
            <a:endParaRPr lang="es-CO" sz="3600" dirty="0"/>
          </a:p>
        </p:txBody>
      </p:sp>
      <p:sp>
        <p:nvSpPr>
          <p:cNvPr id="3" name="Tarjeta dato 1"/>
          <p:cNvSpPr/>
          <p:nvPr/>
        </p:nvSpPr>
        <p:spPr>
          <a:xfrm>
            <a:off x="548640" y="1325880"/>
            <a:ext cx="2468880" cy="2057400"/>
          </a:xfrm>
          <a:prstGeom prst="roundRect">
            <a:avLst>
              <a:gd name="adj" fmla="val 5333"/>
            </a:avLst>
          </a:prstGeom>
          <a:solidFill>
            <a:schemeClr val="tx1"/>
          </a:solidFill>
          <a:ln w="12700">
            <a:solidFill>
              <a:schemeClr val="tx1"/>
            </a:solidFill>
            <a:prstDash val="solid"/>
          </a:ln>
        </p:spPr>
        <p:txBody>
          <a:bodyPr/>
          <a:lstStyle/>
          <a:p>
            <a:endParaRPr lang="es-CO"/>
          </a:p>
        </p:txBody>
      </p:sp>
      <p:sp>
        <p:nvSpPr>
          <p:cNvPr id="4" name="Text 2"/>
          <p:cNvSpPr txBox="1"/>
          <p:nvPr/>
        </p:nvSpPr>
        <p:spPr>
          <a:xfrm>
            <a:off x="777240" y="1508760"/>
            <a:ext cx="2011680" cy="777240"/>
          </a:xfrm>
          <a:prstGeom prst="rect">
            <a:avLst/>
          </a:prstGeom>
          <a:noFill/>
          <a:ln/>
        </p:spPr>
        <p:txBody>
          <a:bodyPr wrap="square" lIns="0" tIns="0" rIns="0" bIns="0" rtlCol="0" anchor="ctr"/>
          <a:lstStyle/>
          <a:p>
            <a:pPr marL="0" indent="0">
              <a:buNone/>
            </a:pPr>
            <a:r>
              <a:rPr lang="en-US" sz="4400" b="1" dirty="0">
                <a:solidFill>
                  <a:schemeClr val="accent1"/>
                </a:solidFill>
              </a:rPr>
              <a:t>79,5 %</a:t>
            </a:r>
            <a:endParaRPr lang="en-US" sz="4400" dirty="0"/>
          </a:p>
        </p:txBody>
      </p:sp>
      <p:sp>
        <p:nvSpPr>
          <p:cNvPr id="5" name="Text 3"/>
          <p:cNvSpPr txBox="1"/>
          <p:nvPr/>
        </p:nvSpPr>
        <p:spPr>
          <a:xfrm>
            <a:off x="777240" y="2377440"/>
            <a:ext cx="2011680" cy="822960"/>
          </a:xfrm>
          <a:prstGeom prst="rect">
            <a:avLst/>
          </a:prstGeom>
          <a:noFill/>
          <a:ln/>
        </p:spPr>
        <p:txBody>
          <a:bodyPr wrap="square" lIns="0" tIns="0" rIns="0" bIns="0" rtlCol="0" anchor="t"/>
          <a:lstStyle/>
          <a:p>
            <a:pPr marL="0" indent="0">
              <a:buNone/>
            </a:pPr>
            <a:r>
              <a:rPr lang="en-US" sz="1400" dirty="0">
                <a:solidFill>
                  <a:schemeClr val="bg1"/>
                </a:solidFill>
              </a:rPr>
              <a:t>de los días con alto sedentarismo (690 de 868)</a:t>
            </a:r>
            <a:endParaRPr lang="en-US" sz="1400" dirty="0"/>
          </a:p>
        </p:txBody>
      </p:sp>
      <p:sp>
        <p:nvSpPr>
          <p:cNvPr id="6" name="Tarjeta dato 2"/>
          <p:cNvSpPr/>
          <p:nvPr/>
        </p:nvSpPr>
        <p:spPr>
          <a:xfrm>
            <a:off x="3337560" y="1325880"/>
            <a:ext cx="2468880" cy="2057400"/>
          </a:xfrm>
          <a:prstGeom prst="roundRect">
            <a:avLst>
              <a:gd name="adj" fmla="val 5333"/>
            </a:avLst>
          </a:prstGeom>
          <a:solidFill>
            <a:schemeClr val="tx1"/>
          </a:solidFill>
          <a:ln w="12700">
            <a:solidFill>
              <a:schemeClr val="tx1"/>
            </a:solidFill>
            <a:prstDash val="solid"/>
          </a:ln>
        </p:spPr>
        <p:txBody>
          <a:bodyPr/>
          <a:lstStyle/>
          <a:p>
            <a:endParaRPr lang="es-CO"/>
          </a:p>
        </p:txBody>
      </p:sp>
      <p:sp>
        <p:nvSpPr>
          <p:cNvPr id="7" name="Text 5"/>
          <p:cNvSpPr txBox="1"/>
          <p:nvPr/>
        </p:nvSpPr>
        <p:spPr>
          <a:xfrm>
            <a:off x="3566160" y="1508760"/>
            <a:ext cx="2011680" cy="777240"/>
          </a:xfrm>
          <a:prstGeom prst="rect">
            <a:avLst/>
          </a:prstGeom>
          <a:noFill/>
          <a:ln/>
        </p:spPr>
        <p:txBody>
          <a:bodyPr wrap="square" lIns="0" tIns="0" rIns="0" bIns="0" rtlCol="0" anchor="ctr"/>
          <a:lstStyle/>
          <a:p>
            <a:pPr marL="0" indent="0">
              <a:buNone/>
            </a:pPr>
            <a:r>
              <a:rPr lang="en-US" sz="4400" b="1" dirty="0">
                <a:solidFill>
                  <a:schemeClr val="accent1"/>
                </a:solidFill>
              </a:rPr>
              <a:t>66 %</a:t>
            </a:r>
            <a:endParaRPr lang="en-US" sz="4400" dirty="0"/>
          </a:p>
        </p:txBody>
      </p:sp>
      <p:sp>
        <p:nvSpPr>
          <p:cNvPr id="8" name="Text 6"/>
          <p:cNvSpPr txBox="1"/>
          <p:nvPr/>
        </p:nvSpPr>
        <p:spPr>
          <a:xfrm>
            <a:off x="3566160" y="2377440"/>
            <a:ext cx="2011680" cy="822960"/>
          </a:xfrm>
          <a:prstGeom prst="rect">
            <a:avLst/>
          </a:prstGeom>
          <a:noFill/>
          <a:ln/>
        </p:spPr>
        <p:txBody>
          <a:bodyPr wrap="square" lIns="0" tIns="0" rIns="0" bIns="0" rtlCol="0" anchor="t"/>
          <a:lstStyle/>
          <a:p>
            <a:pPr marL="0" indent="0">
              <a:buNone/>
            </a:pPr>
            <a:r>
              <a:rPr lang="en-US" sz="1400" dirty="0">
                <a:solidFill>
                  <a:schemeClr val="bg1"/>
                </a:solidFill>
              </a:rPr>
              <a:t>del día en minutos sedentarios (954 de 1.440 en promedio)</a:t>
            </a:r>
            <a:endParaRPr lang="en-US" sz="1400" dirty="0"/>
          </a:p>
        </p:txBody>
      </p:sp>
      <p:sp>
        <p:nvSpPr>
          <p:cNvPr id="9" name="Tarjeta dato 3"/>
          <p:cNvSpPr/>
          <p:nvPr/>
        </p:nvSpPr>
        <p:spPr>
          <a:xfrm>
            <a:off x="6126480" y="1325880"/>
            <a:ext cx="2468880" cy="2057400"/>
          </a:xfrm>
          <a:prstGeom prst="roundRect">
            <a:avLst>
              <a:gd name="adj" fmla="val 5333"/>
            </a:avLst>
          </a:prstGeom>
          <a:solidFill>
            <a:schemeClr val="tx1"/>
          </a:solidFill>
          <a:ln w="12700">
            <a:solidFill>
              <a:schemeClr val="tx1"/>
            </a:solidFill>
            <a:prstDash val="solid"/>
          </a:ln>
        </p:spPr>
        <p:txBody>
          <a:bodyPr/>
          <a:lstStyle/>
          <a:p>
            <a:endParaRPr lang="es-CO"/>
          </a:p>
        </p:txBody>
      </p:sp>
      <p:sp>
        <p:nvSpPr>
          <p:cNvPr id="10" name="Text 8"/>
          <p:cNvSpPr txBox="1"/>
          <p:nvPr/>
        </p:nvSpPr>
        <p:spPr>
          <a:xfrm>
            <a:off x="6355080" y="1508760"/>
            <a:ext cx="2011680" cy="777240"/>
          </a:xfrm>
          <a:prstGeom prst="rect">
            <a:avLst/>
          </a:prstGeom>
          <a:noFill/>
          <a:ln/>
        </p:spPr>
        <p:txBody>
          <a:bodyPr wrap="square" lIns="0" tIns="0" rIns="0" bIns="0" rtlCol="0" anchor="ctr"/>
          <a:lstStyle/>
          <a:p>
            <a:pPr marL="0" indent="0">
              <a:buNone/>
            </a:pPr>
            <a:r>
              <a:rPr lang="en-US" sz="4400" b="1" dirty="0">
                <a:solidFill>
                  <a:schemeClr val="accent1"/>
                </a:solidFill>
              </a:rPr>
              <a:t>8.212</a:t>
            </a:r>
            <a:endParaRPr lang="en-US" sz="4400" dirty="0"/>
          </a:p>
        </p:txBody>
      </p:sp>
      <p:sp>
        <p:nvSpPr>
          <p:cNvPr id="11" name="Text 9"/>
          <p:cNvSpPr txBox="1"/>
          <p:nvPr/>
        </p:nvSpPr>
        <p:spPr>
          <a:xfrm>
            <a:off x="6355080" y="2377440"/>
            <a:ext cx="2011680" cy="822960"/>
          </a:xfrm>
          <a:prstGeom prst="rect">
            <a:avLst/>
          </a:prstGeom>
          <a:noFill/>
          <a:ln/>
        </p:spPr>
        <p:txBody>
          <a:bodyPr wrap="square" lIns="0" tIns="0" rIns="0" bIns="0" rtlCol="0" anchor="t"/>
          <a:lstStyle/>
          <a:p>
            <a:pPr marL="0" indent="0">
              <a:buNone/>
            </a:pPr>
            <a:r>
              <a:rPr lang="en-US" sz="1400" dirty="0">
                <a:solidFill>
                  <a:schemeClr val="bg1"/>
                </a:solidFill>
              </a:rPr>
              <a:t>pasos diarios promedio: activos en apariencia</a:t>
            </a:r>
            <a:endParaRPr lang="en-US" sz="1400" dirty="0"/>
          </a:p>
        </p:txBody>
      </p:sp>
      <p:sp>
        <p:nvSpPr>
          <p:cNvPr id="12" name="Tarjeta propuesta"/>
          <p:cNvSpPr/>
          <p:nvPr/>
        </p:nvSpPr>
        <p:spPr>
          <a:xfrm>
            <a:off x="548640" y="3611880"/>
            <a:ext cx="8046720" cy="914400"/>
          </a:xfrm>
          <a:prstGeom prst="roundRect">
            <a:avLst>
              <a:gd name="adj" fmla="val 12000"/>
            </a:avLst>
          </a:prstGeom>
          <a:solidFill>
            <a:schemeClr val="bg2"/>
          </a:solidFill>
          <a:ln w="12700">
            <a:solidFill>
              <a:schemeClr val="bg2"/>
            </a:solidFill>
            <a:prstDash val="solid"/>
          </a:ln>
        </p:spPr>
        <p:txBody>
          <a:bodyPr/>
          <a:lstStyle/>
          <a:p>
            <a:endParaRPr lang="es-CO"/>
          </a:p>
        </p:txBody>
      </p:sp>
      <p:sp>
        <p:nvSpPr>
          <p:cNvPr id="13" name="Badge silla círculo"/>
          <p:cNvSpPr/>
          <p:nvPr/>
        </p:nvSpPr>
        <p:spPr>
          <a:xfrm>
            <a:off x="822960" y="3794760"/>
            <a:ext cx="548640" cy="548640"/>
          </a:xfrm>
          <a:prstGeom prst="ellipse">
            <a:avLst/>
          </a:prstGeom>
          <a:solidFill>
            <a:srgbClr val="FF6B5B"/>
          </a:solidFill>
          <a:ln w="12700">
            <a:solidFill>
              <a:srgbClr val="FF6B5B"/>
            </a:solidFill>
            <a:prstDash val="solid"/>
          </a:ln>
        </p:spPr>
        <p:txBody>
          <a:bodyPr/>
          <a:lstStyle/>
          <a:p>
            <a:endParaRPr lang="es-CO"/>
          </a:p>
        </p:txBody>
      </p:sp>
      <p:pic>
        <p:nvPicPr>
          <p:cNvPr id="14" name="Badge silla icono" descr="Badge silla"/>
          <p:cNvPicPr>
            <a:picLocks noChangeAspect="1"/>
          </p:cNvPicPr>
          <p:nvPr/>
        </p:nvPicPr>
        <p:blipFill>
          <a:blip r:embed="rId3"/>
          <a:stretch>
            <a:fillRect/>
          </a:stretch>
        </p:blipFill>
        <p:spPr>
          <a:xfrm>
            <a:off x="949147" y="3920947"/>
            <a:ext cx="296266" cy="296266"/>
          </a:xfrm>
          <a:prstGeom prst="rect">
            <a:avLst/>
          </a:prstGeom>
        </p:spPr>
      </p:pic>
      <p:sp>
        <p:nvSpPr>
          <p:cNvPr id="15" name="Text 12"/>
          <p:cNvSpPr txBox="1"/>
          <p:nvPr/>
        </p:nvSpPr>
        <p:spPr>
          <a:xfrm>
            <a:off x="1600200" y="3611880"/>
            <a:ext cx="6766560" cy="914400"/>
          </a:xfrm>
          <a:prstGeom prst="rect">
            <a:avLst/>
          </a:prstGeom>
          <a:noFill/>
          <a:ln/>
        </p:spPr>
        <p:txBody>
          <a:bodyPr wrap="square" lIns="0" tIns="0" rIns="0" bIns="0" rtlCol="0" anchor="ctr"/>
          <a:lstStyle/>
          <a:p>
            <a:pPr marL="0" indent="0">
              <a:buNone/>
            </a:pPr>
            <a:r>
              <a:rPr lang="es-CO" sz="1400" b="1" dirty="0" smtClean="0">
                <a:solidFill>
                  <a:schemeClr val="tx1"/>
                </a:solidFill>
              </a:rPr>
              <a:t>Nuestra propuesta de diseño: </a:t>
            </a:r>
            <a:r>
              <a:rPr lang="es-CO" sz="1400" dirty="0" smtClean="0">
                <a:solidFill>
                  <a:schemeClr val="tx1"/>
                </a:solidFill>
              </a:rPr>
              <a:t>detectar hábitos de riesgo cruzando </a:t>
            </a:r>
            <a:r>
              <a:rPr lang="es-CO" sz="1400" dirty="0" err="1" smtClean="0">
                <a:solidFill>
                  <a:schemeClr val="tx1"/>
                </a:solidFill>
              </a:rPr>
              <a:t>acelerometría</a:t>
            </a:r>
            <a:r>
              <a:rPr lang="es-CO" sz="1400" dirty="0" smtClean="0">
                <a:solidFill>
                  <a:schemeClr val="tx1"/>
                </a:solidFill>
              </a:rPr>
              <a:t>, pulso (PPG), sueño y contexto climático.</a:t>
            </a:r>
            <a:endParaRPr lang="es-CO" sz="14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2181948" cy="777240"/>
          </a:xfrm>
          <a:prstGeom prst="rect">
            <a:avLst/>
          </a:prstGeom>
          <a:noFill/>
          <a:ln/>
        </p:spPr>
        <p:txBody>
          <a:bodyPr wrap="square" lIns="0" tIns="0" rIns="0" bIns="0" rtlCol="0" anchor="ctr"/>
          <a:lstStyle/>
          <a:p>
            <a:pPr marL="0" indent="0" algn="l">
              <a:buNone/>
            </a:pPr>
            <a:r>
              <a:rPr lang="es-CO" sz="3600" b="1" dirty="0" smtClean="0">
                <a:solidFill>
                  <a:schemeClr val="tx1"/>
                </a:solidFill>
              </a:rPr>
              <a:t>Por</a:t>
            </a:r>
            <a:r>
              <a:rPr lang="en-US" sz="3600" b="1" dirty="0" smtClean="0">
                <a:solidFill>
                  <a:schemeClr val="tx1"/>
                </a:solidFill>
              </a:rPr>
              <a:t> </a:t>
            </a:r>
            <a:r>
              <a:rPr lang="es-CO" sz="3600" b="1" dirty="0" smtClean="0">
                <a:solidFill>
                  <a:schemeClr val="tx1"/>
                </a:solidFill>
              </a:rPr>
              <a:t>capas</a:t>
            </a:r>
            <a:endParaRPr lang="es-CO" sz="3600" dirty="0"/>
          </a:p>
        </p:txBody>
      </p:sp>
      <p:sp>
        <p:nvSpPr>
          <p:cNvPr id="3" name="Capa 01"/>
          <p:cNvSpPr/>
          <p:nvPr/>
        </p:nvSpPr>
        <p:spPr>
          <a:xfrm>
            <a:off x="548640" y="1280160"/>
            <a:ext cx="2468880" cy="2377440"/>
          </a:xfrm>
          <a:prstGeom prst="roundRect">
            <a:avLst>
              <a:gd name="adj" fmla="val 4615"/>
            </a:avLst>
          </a:prstGeom>
          <a:solidFill>
            <a:schemeClr val="bg2"/>
          </a:solidFill>
          <a:ln w="12700">
            <a:solidFill>
              <a:schemeClr val="bg2"/>
            </a:solidFill>
            <a:prstDash val="solid"/>
          </a:ln>
        </p:spPr>
        <p:txBody>
          <a:bodyPr/>
          <a:lstStyle/>
          <a:p>
            <a:endParaRPr lang="es-CO"/>
          </a:p>
        </p:txBody>
      </p:sp>
      <p:sp>
        <p:nvSpPr>
          <p:cNvPr id="4" name="Badge capa 01 círculo"/>
          <p:cNvSpPr/>
          <p:nvPr/>
        </p:nvSpPr>
        <p:spPr>
          <a:xfrm>
            <a:off x="731520" y="1463040"/>
            <a:ext cx="640080" cy="640080"/>
          </a:xfrm>
          <a:prstGeom prst="ellipse">
            <a:avLst/>
          </a:prstGeom>
          <a:solidFill>
            <a:srgbClr val="FF6B5B"/>
          </a:solidFill>
          <a:ln w="12700">
            <a:solidFill>
              <a:srgbClr val="FF6B5B"/>
            </a:solidFill>
            <a:prstDash val="solid"/>
          </a:ln>
        </p:spPr>
        <p:txBody>
          <a:bodyPr/>
          <a:lstStyle/>
          <a:p>
            <a:endParaRPr lang="es-CO"/>
          </a:p>
        </p:txBody>
      </p:sp>
      <p:pic>
        <p:nvPicPr>
          <p:cNvPr id="5" name="Badge capa 01 icono" descr="Badge capa 01"/>
          <p:cNvPicPr>
            <a:picLocks noChangeAspect="1"/>
          </p:cNvPicPr>
          <p:nvPr/>
        </p:nvPicPr>
        <p:blipFill>
          <a:blip r:embed="rId3"/>
          <a:stretch>
            <a:fillRect/>
          </a:stretch>
        </p:blipFill>
        <p:spPr>
          <a:xfrm>
            <a:off x="878738" y="1610258"/>
            <a:ext cx="345643" cy="345643"/>
          </a:xfrm>
          <a:prstGeom prst="rect">
            <a:avLst/>
          </a:prstGeom>
        </p:spPr>
      </p:pic>
      <p:sp>
        <p:nvSpPr>
          <p:cNvPr id="6" name="Text 3"/>
          <p:cNvSpPr txBox="1"/>
          <p:nvPr/>
        </p:nvSpPr>
        <p:spPr>
          <a:xfrm>
            <a:off x="1508760" y="1508760"/>
            <a:ext cx="1280160" cy="548640"/>
          </a:xfrm>
          <a:prstGeom prst="rect">
            <a:avLst/>
          </a:prstGeom>
          <a:noFill/>
          <a:ln/>
        </p:spPr>
        <p:txBody>
          <a:bodyPr wrap="square" lIns="0" tIns="0" rIns="0" bIns="0" rtlCol="0" anchor="ctr"/>
          <a:lstStyle/>
          <a:p>
            <a:pPr marL="0" indent="0">
              <a:buNone/>
            </a:pPr>
            <a:r>
              <a:rPr lang="en-US" sz="2800" b="1" dirty="0">
                <a:solidFill>
                  <a:schemeClr val="tx2"/>
                </a:solidFill>
              </a:rPr>
              <a:t>01</a:t>
            </a:r>
            <a:endParaRPr lang="en-US" sz="2800" dirty="0"/>
          </a:p>
        </p:txBody>
      </p:sp>
      <p:sp>
        <p:nvSpPr>
          <p:cNvPr id="7" name="Text 4"/>
          <p:cNvSpPr txBox="1"/>
          <p:nvPr/>
        </p:nvSpPr>
        <p:spPr>
          <a:xfrm>
            <a:off x="777240" y="2240280"/>
            <a:ext cx="2011680" cy="320040"/>
          </a:xfrm>
          <a:prstGeom prst="rect">
            <a:avLst/>
          </a:prstGeom>
          <a:noFill/>
          <a:ln/>
        </p:spPr>
        <p:txBody>
          <a:bodyPr wrap="square" lIns="0" tIns="0" rIns="0" bIns="0" rtlCol="0" anchor="t"/>
          <a:lstStyle/>
          <a:p>
            <a:pPr marL="0" indent="0">
              <a:buNone/>
            </a:pPr>
            <a:r>
              <a:rPr lang="en-US" sz="1800" b="1" dirty="0">
                <a:solidFill>
                  <a:schemeClr val="tx1"/>
                </a:solidFill>
              </a:rPr>
              <a:t>Crudo</a:t>
            </a:r>
            <a:endParaRPr lang="en-US" sz="1800" dirty="0"/>
          </a:p>
        </p:txBody>
      </p:sp>
      <p:sp>
        <p:nvSpPr>
          <p:cNvPr id="8" name="Text 5"/>
          <p:cNvSpPr txBox="1"/>
          <p:nvPr/>
        </p:nvSpPr>
        <p:spPr>
          <a:xfrm>
            <a:off x="777240" y="2560320"/>
            <a:ext cx="2103120" cy="228600"/>
          </a:xfrm>
          <a:prstGeom prst="rect">
            <a:avLst/>
          </a:prstGeom>
          <a:noFill/>
          <a:ln/>
        </p:spPr>
        <p:txBody>
          <a:bodyPr wrap="square" lIns="0" tIns="0" rIns="0" bIns="0" rtlCol="0" anchor="t"/>
          <a:lstStyle/>
          <a:p>
            <a:pPr marL="0" indent="0">
              <a:buNone/>
            </a:pPr>
            <a:r>
              <a:rPr lang="en-US" sz="1100" dirty="0">
                <a:solidFill>
                  <a:schemeClr val="accent5"/>
                </a:solidFill>
                <a:latin typeface="Courier New" pitchFamily="34" charset="0"/>
                <a:ea typeface="Courier New" pitchFamily="34" charset="-122"/>
                <a:cs typeface="Courier New" pitchFamily="34" charset="-120"/>
              </a:rPr>
              <a:t>01NoProcessData/</a:t>
            </a:r>
            <a:endParaRPr lang="en-US" sz="1100" dirty="0"/>
          </a:p>
        </p:txBody>
      </p:sp>
      <p:sp>
        <p:nvSpPr>
          <p:cNvPr id="9" name="Text 6"/>
          <p:cNvSpPr txBox="1"/>
          <p:nvPr/>
        </p:nvSpPr>
        <p:spPr>
          <a:xfrm>
            <a:off x="777240" y="2834640"/>
            <a:ext cx="2057400" cy="777240"/>
          </a:xfrm>
          <a:prstGeom prst="rect">
            <a:avLst/>
          </a:prstGeom>
          <a:noFill/>
          <a:ln/>
        </p:spPr>
        <p:txBody>
          <a:bodyPr wrap="square" lIns="0" tIns="0" rIns="0" bIns="0" rtlCol="0" anchor="t"/>
          <a:lstStyle/>
          <a:p>
            <a:pPr marL="0" indent="0">
              <a:buNone/>
            </a:pPr>
            <a:r>
              <a:rPr lang="en-US" sz="1400" dirty="0">
                <a:solidFill>
                  <a:schemeClr val="tx1"/>
                </a:solidFill>
              </a:rPr>
              <a:t>940 filas y 17 columnas. </a:t>
            </a:r>
            <a:endParaRPr lang="en-US" sz="1400" dirty="0" smtClean="0">
              <a:solidFill>
                <a:schemeClr val="tx1"/>
              </a:solidFill>
            </a:endParaRPr>
          </a:p>
          <a:p>
            <a:pPr marL="0" indent="0">
              <a:buNone/>
            </a:pPr>
            <a:r>
              <a:rPr lang="en-US" sz="1400" dirty="0" smtClean="0"/>
              <a:t>Data original</a:t>
            </a:r>
            <a:endParaRPr lang="en-US" sz="1400" dirty="0"/>
          </a:p>
        </p:txBody>
      </p:sp>
      <p:sp>
        <p:nvSpPr>
          <p:cNvPr id="10" name="Flecha 1"/>
          <p:cNvSpPr/>
          <p:nvPr/>
        </p:nvSpPr>
        <p:spPr>
          <a:xfrm>
            <a:off x="3072384" y="2331720"/>
            <a:ext cx="256032" cy="274320"/>
          </a:xfrm>
          <a:prstGeom prst="rightArrow">
            <a:avLst/>
          </a:prstGeom>
          <a:solidFill>
            <a:schemeClr val="accent1"/>
          </a:solidFill>
          <a:ln w="12700">
            <a:solidFill>
              <a:schemeClr val="accent1"/>
            </a:solidFill>
            <a:prstDash val="solid"/>
          </a:ln>
        </p:spPr>
        <p:txBody>
          <a:bodyPr/>
          <a:lstStyle/>
          <a:p>
            <a:endParaRPr lang="es-CO"/>
          </a:p>
        </p:txBody>
      </p:sp>
      <p:sp>
        <p:nvSpPr>
          <p:cNvPr id="11" name="Capa 02"/>
          <p:cNvSpPr/>
          <p:nvPr/>
        </p:nvSpPr>
        <p:spPr>
          <a:xfrm>
            <a:off x="3337560" y="1280160"/>
            <a:ext cx="2468880" cy="2377440"/>
          </a:xfrm>
          <a:prstGeom prst="roundRect">
            <a:avLst>
              <a:gd name="adj" fmla="val 4615"/>
            </a:avLst>
          </a:prstGeom>
          <a:solidFill>
            <a:schemeClr val="bg2"/>
          </a:solidFill>
          <a:ln w="12700">
            <a:solidFill>
              <a:schemeClr val="bg2"/>
            </a:solidFill>
            <a:prstDash val="solid"/>
          </a:ln>
        </p:spPr>
        <p:txBody>
          <a:bodyPr/>
          <a:lstStyle/>
          <a:p>
            <a:endParaRPr lang="es-CO"/>
          </a:p>
        </p:txBody>
      </p:sp>
      <p:sp>
        <p:nvSpPr>
          <p:cNvPr id="12" name="Badge capa 02 círculo"/>
          <p:cNvSpPr/>
          <p:nvPr/>
        </p:nvSpPr>
        <p:spPr>
          <a:xfrm>
            <a:off x="3520440" y="1463040"/>
            <a:ext cx="640080" cy="640080"/>
          </a:xfrm>
          <a:prstGeom prst="ellipse">
            <a:avLst/>
          </a:prstGeom>
          <a:solidFill>
            <a:srgbClr val="FF6B5B"/>
          </a:solidFill>
          <a:ln w="12700">
            <a:solidFill>
              <a:srgbClr val="FF6B5B"/>
            </a:solidFill>
            <a:prstDash val="solid"/>
          </a:ln>
        </p:spPr>
        <p:txBody>
          <a:bodyPr/>
          <a:lstStyle/>
          <a:p>
            <a:endParaRPr lang="es-CO"/>
          </a:p>
        </p:txBody>
      </p:sp>
      <p:pic>
        <p:nvPicPr>
          <p:cNvPr id="13" name="Badge capa 02 icono" descr="Badge capa 02"/>
          <p:cNvPicPr>
            <a:picLocks noChangeAspect="1"/>
          </p:cNvPicPr>
          <p:nvPr/>
        </p:nvPicPr>
        <p:blipFill>
          <a:blip r:embed="rId4"/>
          <a:stretch>
            <a:fillRect/>
          </a:stretch>
        </p:blipFill>
        <p:spPr>
          <a:xfrm>
            <a:off x="3667658" y="1610258"/>
            <a:ext cx="345643" cy="345643"/>
          </a:xfrm>
          <a:prstGeom prst="rect">
            <a:avLst/>
          </a:prstGeom>
        </p:spPr>
      </p:pic>
      <p:sp>
        <p:nvSpPr>
          <p:cNvPr id="14" name="Text 10"/>
          <p:cNvSpPr txBox="1"/>
          <p:nvPr/>
        </p:nvSpPr>
        <p:spPr>
          <a:xfrm>
            <a:off x="4297680" y="1508760"/>
            <a:ext cx="1280160" cy="548640"/>
          </a:xfrm>
          <a:prstGeom prst="rect">
            <a:avLst/>
          </a:prstGeom>
          <a:noFill/>
          <a:ln/>
        </p:spPr>
        <p:txBody>
          <a:bodyPr wrap="square" lIns="0" tIns="0" rIns="0" bIns="0" rtlCol="0" anchor="ctr"/>
          <a:lstStyle/>
          <a:p>
            <a:pPr marL="0" indent="0">
              <a:buNone/>
            </a:pPr>
            <a:r>
              <a:rPr lang="en-US" sz="2800" b="1" dirty="0">
                <a:solidFill>
                  <a:schemeClr val="tx2"/>
                </a:solidFill>
              </a:rPr>
              <a:t>02</a:t>
            </a:r>
            <a:endParaRPr lang="en-US" sz="2800" dirty="0"/>
          </a:p>
        </p:txBody>
      </p:sp>
      <p:sp>
        <p:nvSpPr>
          <p:cNvPr id="15" name="Text 11"/>
          <p:cNvSpPr txBox="1"/>
          <p:nvPr/>
        </p:nvSpPr>
        <p:spPr>
          <a:xfrm>
            <a:off x="3566160" y="2240280"/>
            <a:ext cx="2011680" cy="320040"/>
          </a:xfrm>
          <a:prstGeom prst="rect">
            <a:avLst/>
          </a:prstGeom>
          <a:noFill/>
          <a:ln/>
        </p:spPr>
        <p:txBody>
          <a:bodyPr wrap="square" lIns="0" tIns="0" rIns="0" bIns="0" rtlCol="0" anchor="t"/>
          <a:lstStyle/>
          <a:p>
            <a:pPr marL="0" indent="0">
              <a:buNone/>
            </a:pPr>
            <a:r>
              <a:rPr lang="en-US" sz="1800" b="1" dirty="0">
                <a:solidFill>
                  <a:schemeClr val="tx1"/>
                </a:solidFill>
              </a:rPr>
              <a:t>Limpio</a:t>
            </a:r>
            <a:endParaRPr lang="en-US" sz="1800" dirty="0"/>
          </a:p>
        </p:txBody>
      </p:sp>
      <p:sp>
        <p:nvSpPr>
          <p:cNvPr id="16" name="Text 12"/>
          <p:cNvSpPr txBox="1"/>
          <p:nvPr/>
        </p:nvSpPr>
        <p:spPr>
          <a:xfrm>
            <a:off x="3566160" y="2560320"/>
            <a:ext cx="2103120" cy="228600"/>
          </a:xfrm>
          <a:prstGeom prst="rect">
            <a:avLst/>
          </a:prstGeom>
          <a:noFill/>
          <a:ln/>
        </p:spPr>
        <p:txBody>
          <a:bodyPr wrap="square" lIns="0" tIns="0" rIns="0" bIns="0" rtlCol="0" anchor="t"/>
          <a:lstStyle/>
          <a:p>
            <a:pPr marL="0" indent="0">
              <a:buNone/>
            </a:pPr>
            <a:r>
              <a:rPr lang="en-US" sz="1100" dirty="0">
                <a:solidFill>
                  <a:schemeClr val="accent5"/>
                </a:solidFill>
                <a:latin typeface="Courier New" pitchFamily="34" charset="0"/>
                <a:ea typeface="Courier New" pitchFamily="34" charset="-122"/>
                <a:cs typeface="Courier New" pitchFamily="34" charset="-120"/>
              </a:rPr>
              <a:t>02IntermediateData/</a:t>
            </a:r>
            <a:endParaRPr lang="en-US" sz="1100" dirty="0"/>
          </a:p>
        </p:txBody>
      </p:sp>
      <p:sp>
        <p:nvSpPr>
          <p:cNvPr id="17" name="Text 13"/>
          <p:cNvSpPr txBox="1"/>
          <p:nvPr/>
        </p:nvSpPr>
        <p:spPr>
          <a:xfrm>
            <a:off x="3566160" y="2834640"/>
            <a:ext cx="2057400" cy="777240"/>
          </a:xfrm>
          <a:prstGeom prst="rect">
            <a:avLst/>
          </a:prstGeom>
          <a:noFill/>
          <a:ln/>
        </p:spPr>
        <p:txBody>
          <a:bodyPr wrap="square" lIns="0" tIns="0" rIns="0" bIns="0" rtlCol="0" anchor="t"/>
          <a:lstStyle/>
          <a:p>
            <a:pPr marL="0" indent="0">
              <a:buNone/>
            </a:pPr>
            <a:r>
              <a:rPr lang="en-US" sz="1400" dirty="0">
                <a:solidFill>
                  <a:schemeClr val="tx1"/>
                </a:solidFill>
              </a:rPr>
              <a:t>868 filas. Lo genera la clase SensoresDataCleaner.</a:t>
            </a:r>
            <a:endParaRPr lang="en-US" sz="1400" dirty="0"/>
          </a:p>
        </p:txBody>
      </p:sp>
      <p:sp>
        <p:nvSpPr>
          <p:cNvPr id="18" name="Flecha 2"/>
          <p:cNvSpPr/>
          <p:nvPr/>
        </p:nvSpPr>
        <p:spPr>
          <a:xfrm>
            <a:off x="5861304" y="2331720"/>
            <a:ext cx="256032" cy="274320"/>
          </a:xfrm>
          <a:prstGeom prst="rightArrow">
            <a:avLst/>
          </a:prstGeom>
          <a:solidFill>
            <a:schemeClr val="accent1"/>
          </a:solidFill>
          <a:ln w="12700">
            <a:solidFill>
              <a:schemeClr val="accent1"/>
            </a:solidFill>
            <a:prstDash val="solid"/>
          </a:ln>
        </p:spPr>
        <p:txBody>
          <a:bodyPr/>
          <a:lstStyle/>
          <a:p>
            <a:endParaRPr lang="es-CO"/>
          </a:p>
        </p:txBody>
      </p:sp>
      <p:sp>
        <p:nvSpPr>
          <p:cNvPr id="19" name="Capa 03"/>
          <p:cNvSpPr/>
          <p:nvPr/>
        </p:nvSpPr>
        <p:spPr>
          <a:xfrm>
            <a:off x="6126480" y="1280160"/>
            <a:ext cx="2468880" cy="2377440"/>
          </a:xfrm>
          <a:prstGeom prst="roundRect">
            <a:avLst>
              <a:gd name="adj" fmla="val 4615"/>
            </a:avLst>
          </a:prstGeom>
          <a:solidFill>
            <a:schemeClr val="bg2"/>
          </a:solidFill>
          <a:ln w="12700">
            <a:solidFill>
              <a:schemeClr val="bg2"/>
            </a:solidFill>
            <a:prstDash val="solid"/>
          </a:ln>
        </p:spPr>
        <p:txBody>
          <a:bodyPr/>
          <a:lstStyle/>
          <a:p>
            <a:endParaRPr lang="es-CO"/>
          </a:p>
        </p:txBody>
      </p:sp>
      <p:sp>
        <p:nvSpPr>
          <p:cNvPr id="20" name="Badge capa 03 círculo"/>
          <p:cNvSpPr/>
          <p:nvPr/>
        </p:nvSpPr>
        <p:spPr>
          <a:xfrm>
            <a:off x="6309360" y="1463040"/>
            <a:ext cx="640080" cy="640080"/>
          </a:xfrm>
          <a:prstGeom prst="ellipse">
            <a:avLst/>
          </a:prstGeom>
          <a:solidFill>
            <a:srgbClr val="FF6B5B"/>
          </a:solidFill>
          <a:ln w="12700">
            <a:solidFill>
              <a:srgbClr val="FF6B5B"/>
            </a:solidFill>
            <a:prstDash val="solid"/>
          </a:ln>
        </p:spPr>
        <p:txBody>
          <a:bodyPr/>
          <a:lstStyle/>
          <a:p>
            <a:endParaRPr lang="es-CO"/>
          </a:p>
        </p:txBody>
      </p:sp>
      <p:pic>
        <p:nvPicPr>
          <p:cNvPr id="21" name="Badge capa 03 icono" descr="Badge capa 03"/>
          <p:cNvPicPr>
            <a:picLocks noChangeAspect="1"/>
          </p:cNvPicPr>
          <p:nvPr/>
        </p:nvPicPr>
        <p:blipFill>
          <a:blip r:embed="rId5"/>
          <a:stretch>
            <a:fillRect/>
          </a:stretch>
        </p:blipFill>
        <p:spPr>
          <a:xfrm>
            <a:off x="6456578" y="1610258"/>
            <a:ext cx="345643" cy="345643"/>
          </a:xfrm>
          <a:prstGeom prst="rect">
            <a:avLst/>
          </a:prstGeom>
        </p:spPr>
      </p:pic>
      <p:sp>
        <p:nvSpPr>
          <p:cNvPr id="22" name="Text 17"/>
          <p:cNvSpPr txBox="1"/>
          <p:nvPr/>
        </p:nvSpPr>
        <p:spPr>
          <a:xfrm>
            <a:off x="7086600" y="1508760"/>
            <a:ext cx="1280160" cy="548640"/>
          </a:xfrm>
          <a:prstGeom prst="rect">
            <a:avLst/>
          </a:prstGeom>
          <a:noFill/>
          <a:ln/>
        </p:spPr>
        <p:txBody>
          <a:bodyPr wrap="square" lIns="0" tIns="0" rIns="0" bIns="0" rtlCol="0" anchor="ctr"/>
          <a:lstStyle/>
          <a:p>
            <a:pPr marL="0" indent="0">
              <a:buNone/>
            </a:pPr>
            <a:r>
              <a:rPr lang="en-US" sz="2800" b="1" dirty="0">
                <a:solidFill>
                  <a:schemeClr val="tx2"/>
                </a:solidFill>
              </a:rPr>
              <a:t>03</a:t>
            </a:r>
            <a:endParaRPr lang="en-US" sz="2800" dirty="0"/>
          </a:p>
        </p:txBody>
      </p:sp>
      <p:sp>
        <p:nvSpPr>
          <p:cNvPr id="23" name="Text 18"/>
          <p:cNvSpPr txBox="1"/>
          <p:nvPr/>
        </p:nvSpPr>
        <p:spPr>
          <a:xfrm>
            <a:off x="6355080" y="2240280"/>
            <a:ext cx="2011680" cy="320040"/>
          </a:xfrm>
          <a:prstGeom prst="rect">
            <a:avLst/>
          </a:prstGeom>
          <a:noFill/>
          <a:ln/>
        </p:spPr>
        <p:txBody>
          <a:bodyPr wrap="square" lIns="0" tIns="0" rIns="0" bIns="0" rtlCol="0" anchor="t"/>
          <a:lstStyle/>
          <a:p>
            <a:pPr marL="0" indent="0">
              <a:buNone/>
            </a:pPr>
            <a:r>
              <a:rPr lang="en-US" sz="1800" b="1" dirty="0">
                <a:solidFill>
                  <a:schemeClr val="tx1"/>
                </a:solidFill>
              </a:rPr>
              <a:t>Transformado</a:t>
            </a:r>
            <a:endParaRPr lang="en-US" sz="1800" dirty="0"/>
          </a:p>
        </p:txBody>
      </p:sp>
      <p:sp>
        <p:nvSpPr>
          <p:cNvPr id="24" name="Text 19"/>
          <p:cNvSpPr txBox="1"/>
          <p:nvPr/>
        </p:nvSpPr>
        <p:spPr>
          <a:xfrm>
            <a:off x="6355080" y="2560320"/>
            <a:ext cx="2103120" cy="228600"/>
          </a:xfrm>
          <a:prstGeom prst="rect">
            <a:avLst/>
          </a:prstGeom>
          <a:noFill/>
          <a:ln/>
        </p:spPr>
        <p:txBody>
          <a:bodyPr wrap="square" lIns="0" tIns="0" rIns="0" bIns="0" rtlCol="0" anchor="t"/>
          <a:lstStyle/>
          <a:p>
            <a:pPr marL="0" indent="0">
              <a:buNone/>
            </a:pPr>
            <a:r>
              <a:rPr lang="en-US" sz="1100" dirty="0">
                <a:solidFill>
                  <a:schemeClr val="accent5"/>
                </a:solidFill>
                <a:latin typeface="Courier New" pitchFamily="34" charset="0"/>
                <a:ea typeface="Courier New" pitchFamily="34" charset="-122"/>
                <a:cs typeface="Courier New" pitchFamily="34" charset="-120"/>
              </a:rPr>
              <a:t>03DatafinalProcessed/</a:t>
            </a:r>
            <a:endParaRPr lang="en-US" sz="1100" dirty="0"/>
          </a:p>
        </p:txBody>
      </p:sp>
      <p:sp>
        <p:nvSpPr>
          <p:cNvPr id="25" name="Text 20"/>
          <p:cNvSpPr txBox="1"/>
          <p:nvPr/>
        </p:nvSpPr>
        <p:spPr>
          <a:xfrm>
            <a:off x="6355080" y="2834640"/>
            <a:ext cx="2057400" cy="777240"/>
          </a:xfrm>
          <a:prstGeom prst="rect">
            <a:avLst/>
          </a:prstGeom>
          <a:noFill/>
          <a:ln/>
        </p:spPr>
        <p:txBody>
          <a:bodyPr wrap="square" lIns="0" tIns="0" rIns="0" bIns="0" rtlCol="0" anchor="t"/>
          <a:lstStyle/>
          <a:p>
            <a:pPr marL="0" indent="0">
              <a:buNone/>
            </a:pPr>
            <a:r>
              <a:rPr lang="en-US" sz="1400" dirty="0">
                <a:solidFill>
                  <a:schemeClr val="tx1"/>
                </a:solidFill>
              </a:rPr>
              <a:t>Matriz 868 × 17 para ML, con SensoresDataTransformer.</a:t>
            </a:r>
            <a:endParaRPr lang="en-US" sz="1400" dirty="0"/>
          </a:p>
        </p:txBody>
      </p:sp>
      <p:sp>
        <p:nvSpPr>
          <p:cNvPr id="26" name="Pilar Inmutabilidad"/>
          <p:cNvSpPr/>
          <p:nvPr/>
        </p:nvSpPr>
        <p:spPr>
          <a:xfrm>
            <a:off x="548640" y="3840480"/>
            <a:ext cx="2468880" cy="457200"/>
          </a:xfrm>
          <a:prstGeom prst="roundRect">
            <a:avLst>
              <a:gd name="adj" fmla="val 24000"/>
            </a:avLst>
          </a:prstGeom>
          <a:solidFill>
            <a:schemeClr val="tx1"/>
          </a:solidFill>
          <a:ln w="12700">
            <a:solidFill>
              <a:schemeClr val="tx1"/>
            </a:solidFill>
            <a:prstDash val="solid"/>
          </a:ln>
        </p:spPr>
        <p:txBody>
          <a:bodyPr/>
          <a:lstStyle/>
          <a:p>
            <a:endParaRPr lang="es-CO"/>
          </a:p>
        </p:txBody>
      </p:sp>
      <p:sp>
        <p:nvSpPr>
          <p:cNvPr id="27" name="Text 22"/>
          <p:cNvSpPr txBox="1"/>
          <p:nvPr/>
        </p:nvSpPr>
        <p:spPr>
          <a:xfrm>
            <a:off x="548640" y="3840480"/>
            <a:ext cx="2468880" cy="457200"/>
          </a:xfrm>
          <a:prstGeom prst="rect">
            <a:avLst/>
          </a:prstGeom>
          <a:noFill/>
          <a:ln/>
        </p:spPr>
        <p:txBody>
          <a:bodyPr wrap="square" lIns="0" tIns="0" rIns="0" bIns="0" rtlCol="0" anchor="ctr"/>
          <a:lstStyle/>
          <a:p>
            <a:pPr marL="0" indent="0" algn="ctr">
              <a:buNone/>
            </a:pPr>
            <a:r>
              <a:rPr lang="en-US" sz="1400" b="1" dirty="0">
                <a:solidFill>
                  <a:schemeClr val="bg1"/>
                </a:solidFill>
              </a:rPr>
              <a:t>Inmutabilidad</a:t>
            </a:r>
            <a:endParaRPr lang="en-US" sz="1400" dirty="0"/>
          </a:p>
        </p:txBody>
      </p:sp>
      <p:sp>
        <p:nvSpPr>
          <p:cNvPr id="28" name="Pilar Trazabilidad"/>
          <p:cNvSpPr/>
          <p:nvPr/>
        </p:nvSpPr>
        <p:spPr>
          <a:xfrm>
            <a:off x="3337560" y="3840480"/>
            <a:ext cx="2468880" cy="457200"/>
          </a:xfrm>
          <a:prstGeom prst="roundRect">
            <a:avLst>
              <a:gd name="adj" fmla="val 24000"/>
            </a:avLst>
          </a:prstGeom>
          <a:solidFill>
            <a:schemeClr val="tx1"/>
          </a:solidFill>
          <a:ln w="12700">
            <a:solidFill>
              <a:schemeClr val="tx1"/>
            </a:solidFill>
            <a:prstDash val="solid"/>
          </a:ln>
        </p:spPr>
        <p:txBody>
          <a:bodyPr/>
          <a:lstStyle/>
          <a:p>
            <a:endParaRPr lang="es-CO"/>
          </a:p>
        </p:txBody>
      </p:sp>
      <p:sp>
        <p:nvSpPr>
          <p:cNvPr id="29" name="Text 24"/>
          <p:cNvSpPr txBox="1"/>
          <p:nvPr/>
        </p:nvSpPr>
        <p:spPr>
          <a:xfrm>
            <a:off x="3337560" y="3840480"/>
            <a:ext cx="2468880" cy="457200"/>
          </a:xfrm>
          <a:prstGeom prst="rect">
            <a:avLst/>
          </a:prstGeom>
          <a:noFill/>
          <a:ln/>
        </p:spPr>
        <p:txBody>
          <a:bodyPr wrap="square" lIns="0" tIns="0" rIns="0" bIns="0" rtlCol="0" anchor="ctr"/>
          <a:lstStyle/>
          <a:p>
            <a:pPr marL="0" indent="0" algn="ctr">
              <a:buNone/>
            </a:pPr>
            <a:r>
              <a:rPr lang="en-US" sz="1400" b="1" dirty="0">
                <a:solidFill>
                  <a:schemeClr val="bg1"/>
                </a:solidFill>
              </a:rPr>
              <a:t>Trazabilidad</a:t>
            </a:r>
            <a:endParaRPr lang="en-US" sz="1400" dirty="0"/>
          </a:p>
        </p:txBody>
      </p:sp>
      <p:sp>
        <p:nvSpPr>
          <p:cNvPr id="30" name="Pilar Reproducibilidad"/>
          <p:cNvSpPr/>
          <p:nvPr/>
        </p:nvSpPr>
        <p:spPr>
          <a:xfrm>
            <a:off x="6126480" y="3840480"/>
            <a:ext cx="2468880" cy="457200"/>
          </a:xfrm>
          <a:prstGeom prst="roundRect">
            <a:avLst>
              <a:gd name="adj" fmla="val 24000"/>
            </a:avLst>
          </a:prstGeom>
          <a:solidFill>
            <a:schemeClr val="tx1"/>
          </a:solidFill>
          <a:ln w="12700">
            <a:solidFill>
              <a:schemeClr val="tx1"/>
            </a:solidFill>
            <a:prstDash val="solid"/>
          </a:ln>
        </p:spPr>
        <p:txBody>
          <a:bodyPr/>
          <a:lstStyle/>
          <a:p>
            <a:endParaRPr lang="es-CO"/>
          </a:p>
        </p:txBody>
      </p:sp>
      <p:sp>
        <p:nvSpPr>
          <p:cNvPr id="31" name="Text 26"/>
          <p:cNvSpPr txBox="1"/>
          <p:nvPr/>
        </p:nvSpPr>
        <p:spPr>
          <a:xfrm>
            <a:off x="6126480" y="3840480"/>
            <a:ext cx="2468880" cy="457200"/>
          </a:xfrm>
          <a:prstGeom prst="rect">
            <a:avLst/>
          </a:prstGeom>
          <a:noFill/>
          <a:ln/>
        </p:spPr>
        <p:txBody>
          <a:bodyPr wrap="square" lIns="0" tIns="0" rIns="0" bIns="0" rtlCol="0" anchor="ctr"/>
          <a:lstStyle/>
          <a:p>
            <a:pPr marL="0" indent="0" algn="ctr">
              <a:buNone/>
            </a:pPr>
            <a:r>
              <a:rPr lang="en-US" sz="1400" b="1" dirty="0">
                <a:solidFill>
                  <a:schemeClr val="bg1"/>
                </a:solidFill>
              </a:rPr>
              <a:t>Reproducibilidad</a:t>
            </a:r>
            <a:endParaRPr lang="en-US" sz="1400" dirty="0"/>
          </a:p>
        </p:txBody>
      </p:sp>
      <p:sp>
        <p:nvSpPr>
          <p:cNvPr id="32" name="Text 27"/>
          <p:cNvSpPr txBox="1"/>
          <p:nvPr/>
        </p:nvSpPr>
        <p:spPr>
          <a:xfrm>
            <a:off x="548640" y="4480560"/>
            <a:ext cx="8046720" cy="228600"/>
          </a:xfrm>
          <a:prstGeom prst="rect">
            <a:avLst/>
          </a:prstGeom>
          <a:noFill/>
          <a:ln/>
        </p:spPr>
        <p:txBody>
          <a:bodyPr wrap="square" lIns="0" tIns="0" rIns="0" bIns="0" rtlCol="0" anchor="t"/>
          <a:lstStyle/>
          <a:p>
            <a:pPr marL="0" indent="0">
              <a:buNone/>
            </a:pPr>
            <a:r>
              <a:rPr lang="en-US" sz="1200" dirty="0" smtClean="0">
                <a:solidFill>
                  <a:schemeClr val="accent5"/>
                </a:solidFill>
              </a:rPr>
              <a:t>Fuentes de </a:t>
            </a:r>
            <a:r>
              <a:rPr lang="en-US" sz="1200" dirty="0" err="1" smtClean="0">
                <a:solidFill>
                  <a:schemeClr val="accent5"/>
                </a:solidFill>
              </a:rPr>
              <a:t>datos</a:t>
            </a:r>
            <a:r>
              <a:rPr lang="en-US" sz="1200" dirty="0" smtClean="0">
                <a:solidFill>
                  <a:schemeClr val="accent5"/>
                </a:solidFill>
              </a:rPr>
              <a:t>: </a:t>
            </a:r>
            <a:r>
              <a:rPr lang="en-US" sz="1200" dirty="0">
                <a:solidFill>
                  <a:schemeClr val="accent5"/>
                </a:solidFill>
              </a:rPr>
              <a:t>wearable (acelerometría + PPG) · sleepDay_merged.csv · clima (API </a:t>
            </a:r>
            <a:r>
              <a:rPr lang="en-US" sz="1200" dirty="0" err="1" smtClean="0">
                <a:solidFill>
                  <a:schemeClr val="accent5"/>
                </a:solidFill>
              </a:rPr>
              <a:t>OpenWeatherMap</a:t>
            </a:r>
            <a:r>
              <a:rPr lang="en-US" sz="1200" dirty="0" smtClean="0">
                <a:solidFill>
                  <a:schemeClr val="accent5"/>
                </a:solidFill>
              </a:rPr>
              <a:t>)</a:t>
            </a:r>
            <a:endParaRPr lang="en-US" sz="1200" dirty="0"/>
          </a:p>
        </p:txBody>
      </p:sp>
      <p:sp>
        <p:nvSpPr>
          <p:cNvPr id="33"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8150"/>
            <a:ext cx="5398113" cy="1005840"/>
          </a:xfrm>
          <a:prstGeom prst="rect">
            <a:avLst/>
          </a:prstGeom>
          <a:noFill/>
          <a:ln/>
        </p:spPr>
        <p:txBody>
          <a:bodyPr wrap="square" lIns="0" tIns="0" rIns="0" bIns="0" rtlCol="0" anchor="ctr"/>
          <a:lstStyle/>
          <a:p>
            <a:pPr marL="0" indent="0" algn="l">
              <a:buNone/>
            </a:pPr>
            <a:r>
              <a:rPr lang="es-CO" sz="3600" b="1" dirty="0" smtClean="0">
                <a:solidFill>
                  <a:schemeClr val="tx1"/>
                </a:solidFill>
              </a:rPr>
              <a:t>Datos originales VS Datos transformados</a:t>
            </a:r>
            <a:endParaRPr lang="es-CO" sz="3600" dirty="0"/>
          </a:p>
        </p:txBody>
      </p:sp>
      <p:sp>
        <p:nvSpPr>
          <p:cNvPr id="3" name="Tarjeta antes"/>
          <p:cNvSpPr/>
          <p:nvPr/>
        </p:nvSpPr>
        <p:spPr>
          <a:xfrm>
            <a:off x="548640" y="1280160"/>
            <a:ext cx="3566160" cy="3063240"/>
          </a:xfrm>
          <a:prstGeom prst="roundRect">
            <a:avLst>
              <a:gd name="adj" fmla="val 3582"/>
            </a:avLst>
          </a:prstGeom>
          <a:solidFill>
            <a:schemeClr val="bg2"/>
          </a:solidFill>
          <a:ln w="12700">
            <a:solidFill>
              <a:schemeClr val="bg2"/>
            </a:solidFill>
            <a:prstDash val="solid"/>
          </a:ln>
        </p:spPr>
        <p:txBody>
          <a:bodyPr/>
          <a:lstStyle/>
          <a:p>
            <a:endParaRPr lang="es-CO"/>
          </a:p>
        </p:txBody>
      </p:sp>
      <p:sp>
        <p:nvSpPr>
          <p:cNvPr id="4" name="Tarjeta después"/>
          <p:cNvSpPr/>
          <p:nvPr/>
        </p:nvSpPr>
        <p:spPr>
          <a:xfrm>
            <a:off x="5029200" y="1280160"/>
            <a:ext cx="3566160" cy="3063240"/>
          </a:xfrm>
          <a:prstGeom prst="roundRect">
            <a:avLst>
              <a:gd name="adj" fmla="val 3582"/>
            </a:avLst>
          </a:prstGeom>
          <a:solidFill>
            <a:schemeClr val="tx1"/>
          </a:solidFill>
          <a:ln w="12700">
            <a:solidFill>
              <a:schemeClr val="tx1"/>
            </a:solidFill>
            <a:prstDash val="solid"/>
          </a:ln>
        </p:spPr>
        <p:txBody>
          <a:bodyPr/>
          <a:lstStyle/>
          <a:p>
            <a:endParaRPr lang="es-CO"/>
          </a:p>
        </p:txBody>
      </p:sp>
      <p:sp>
        <p:nvSpPr>
          <p:cNvPr id="5" name="Text 3"/>
          <p:cNvSpPr txBox="1"/>
          <p:nvPr/>
        </p:nvSpPr>
        <p:spPr>
          <a:xfrm>
            <a:off x="777240" y="1417320"/>
            <a:ext cx="3200400" cy="320040"/>
          </a:xfrm>
          <a:prstGeom prst="rect">
            <a:avLst/>
          </a:prstGeom>
          <a:noFill/>
          <a:ln/>
        </p:spPr>
        <p:txBody>
          <a:bodyPr wrap="square" lIns="0" tIns="0" rIns="0" bIns="0" rtlCol="0" anchor="t"/>
          <a:lstStyle/>
          <a:p>
            <a:pPr marL="0" indent="0">
              <a:buNone/>
            </a:pPr>
            <a:r>
              <a:rPr lang="en-US" sz="1200" b="1" kern="0" spc="100" dirty="0" smtClean="0">
                <a:solidFill>
                  <a:schemeClr val="accent5"/>
                </a:solidFill>
              </a:rPr>
              <a:t>El antes· </a:t>
            </a:r>
            <a:r>
              <a:rPr lang="en-US" sz="1200" b="1" kern="0" spc="100" dirty="0">
                <a:solidFill>
                  <a:schemeClr val="accent5"/>
                </a:solidFill>
              </a:rPr>
              <a:t>SENSORES(sucio).xlsx</a:t>
            </a:r>
            <a:endParaRPr lang="en-US" sz="1200" dirty="0"/>
          </a:p>
        </p:txBody>
      </p:sp>
      <p:sp>
        <p:nvSpPr>
          <p:cNvPr id="6" name="Text 4"/>
          <p:cNvSpPr txBox="1"/>
          <p:nvPr/>
        </p:nvSpPr>
        <p:spPr>
          <a:xfrm>
            <a:off x="5257800" y="1417320"/>
            <a:ext cx="2568203" cy="320040"/>
          </a:xfrm>
          <a:prstGeom prst="rect">
            <a:avLst/>
          </a:prstGeom>
          <a:noFill/>
          <a:ln/>
        </p:spPr>
        <p:txBody>
          <a:bodyPr wrap="square" lIns="0" tIns="0" rIns="0" bIns="0" rtlCol="0" anchor="t"/>
          <a:lstStyle/>
          <a:p>
            <a:pPr marL="0" indent="0">
              <a:buNone/>
            </a:pPr>
            <a:r>
              <a:rPr lang="en-US" sz="1200" b="1" kern="0" spc="100" dirty="0" smtClean="0">
                <a:solidFill>
                  <a:schemeClr val="accent4"/>
                </a:solidFill>
              </a:rPr>
              <a:t>El </a:t>
            </a:r>
            <a:r>
              <a:rPr lang="es-CO" sz="1200" b="1" kern="0" spc="100" dirty="0" smtClean="0">
                <a:solidFill>
                  <a:schemeClr val="accent4"/>
                </a:solidFill>
              </a:rPr>
              <a:t>después</a:t>
            </a:r>
            <a:r>
              <a:rPr lang="en-US" sz="1200" b="1" kern="0" spc="100" dirty="0" smtClean="0">
                <a:solidFill>
                  <a:schemeClr val="accent4"/>
                </a:solidFill>
              </a:rPr>
              <a:t> · </a:t>
            </a:r>
            <a:r>
              <a:rPr lang="en-US" sz="1200" b="1" kern="0" spc="100" dirty="0">
                <a:solidFill>
                  <a:schemeClr val="accent4"/>
                </a:solidFill>
              </a:rPr>
              <a:t>Sensores_limpio.csv</a:t>
            </a:r>
            <a:endParaRPr lang="en-US" sz="1200" dirty="0"/>
          </a:p>
        </p:txBody>
      </p:sp>
      <p:sp>
        <p:nvSpPr>
          <p:cNvPr id="7" name="Text 5"/>
          <p:cNvSpPr txBox="1"/>
          <p:nvPr/>
        </p:nvSpPr>
        <p:spPr>
          <a:xfrm>
            <a:off x="777240" y="1828800"/>
            <a:ext cx="3154680" cy="411480"/>
          </a:xfrm>
          <a:prstGeom prst="rect">
            <a:avLst/>
          </a:prstGeom>
          <a:noFill/>
          <a:ln/>
        </p:spPr>
        <p:txBody>
          <a:bodyPr wrap="square" lIns="0" tIns="0" rIns="0" bIns="0" rtlCol="0" anchor="ctr"/>
          <a:lstStyle/>
          <a:p>
            <a:pPr marL="0" indent="0">
              <a:buNone/>
            </a:pPr>
            <a:r>
              <a:rPr lang="en-US" sz="1400" dirty="0">
                <a:solidFill>
                  <a:schemeClr val="tx1"/>
                </a:solidFill>
              </a:rPr>
              <a:t>940 filas · 17 columnas</a:t>
            </a:r>
            <a:endParaRPr lang="en-US" sz="1400" dirty="0"/>
          </a:p>
        </p:txBody>
      </p:sp>
      <p:sp>
        <p:nvSpPr>
          <p:cNvPr id="8" name="Text 6"/>
          <p:cNvSpPr txBox="1"/>
          <p:nvPr/>
        </p:nvSpPr>
        <p:spPr>
          <a:xfrm>
            <a:off x="5257800" y="1828800"/>
            <a:ext cx="3154680" cy="411480"/>
          </a:xfrm>
          <a:prstGeom prst="rect">
            <a:avLst/>
          </a:prstGeom>
          <a:noFill/>
          <a:ln/>
        </p:spPr>
        <p:txBody>
          <a:bodyPr wrap="square" lIns="0" tIns="0" rIns="0" bIns="0" rtlCol="0" anchor="ctr"/>
          <a:lstStyle/>
          <a:p>
            <a:pPr marL="0" indent="0">
              <a:buNone/>
            </a:pPr>
            <a:r>
              <a:rPr lang="en-US" sz="1400" dirty="0">
                <a:solidFill>
                  <a:schemeClr val="bg1"/>
                </a:solidFill>
              </a:rPr>
              <a:t>868 filas · 18 columnas</a:t>
            </a:r>
            <a:endParaRPr lang="en-US" sz="1400" dirty="0"/>
          </a:p>
        </p:txBody>
      </p:sp>
      <p:sp>
        <p:nvSpPr>
          <p:cNvPr id="9" name="Text 7"/>
          <p:cNvSpPr txBox="1"/>
          <p:nvPr/>
        </p:nvSpPr>
        <p:spPr>
          <a:xfrm>
            <a:off x="777240" y="2304288"/>
            <a:ext cx="3154680" cy="411480"/>
          </a:xfrm>
          <a:prstGeom prst="rect">
            <a:avLst/>
          </a:prstGeom>
          <a:noFill/>
          <a:ln/>
        </p:spPr>
        <p:txBody>
          <a:bodyPr wrap="square" lIns="0" tIns="0" rIns="0" bIns="0" rtlCol="0" anchor="ctr"/>
          <a:lstStyle/>
          <a:p>
            <a:pPr marL="0" indent="0">
              <a:buNone/>
            </a:pPr>
            <a:r>
              <a:rPr lang="en-US" sz="1400" dirty="0">
                <a:solidFill>
                  <a:schemeClr val="tx1"/>
                </a:solidFill>
              </a:rPr>
              <a:t>2 columnas fantasma (Unnamed)</a:t>
            </a:r>
            <a:endParaRPr lang="en-US" sz="1400" dirty="0"/>
          </a:p>
        </p:txBody>
      </p:sp>
      <p:sp>
        <p:nvSpPr>
          <p:cNvPr id="10" name="Text 8"/>
          <p:cNvSpPr txBox="1"/>
          <p:nvPr/>
        </p:nvSpPr>
        <p:spPr>
          <a:xfrm>
            <a:off x="5257800" y="2304288"/>
            <a:ext cx="3154680" cy="411480"/>
          </a:xfrm>
          <a:prstGeom prst="rect">
            <a:avLst/>
          </a:prstGeom>
          <a:noFill/>
          <a:ln/>
        </p:spPr>
        <p:txBody>
          <a:bodyPr wrap="square" lIns="0" tIns="0" rIns="0" bIns="0" rtlCol="0" anchor="ctr"/>
          <a:lstStyle/>
          <a:p>
            <a:pPr marL="0" indent="0">
              <a:buNone/>
            </a:pPr>
            <a:r>
              <a:rPr lang="en-US" sz="1400" dirty="0">
                <a:solidFill>
                  <a:schemeClr val="bg1"/>
                </a:solidFill>
              </a:rPr>
              <a:t>Columnas fantasma eliminadas</a:t>
            </a:r>
            <a:endParaRPr lang="en-US" sz="1400" dirty="0"/>
          </a:p>
        </p:txBody>
      </p:sp>
      <p:sp>
        <p:nvSpPr>
          <p:cNvPr id="11" name="Text 9"/>
          <p:cNvSpPr txBox="1"/>
          <p:nvPr/>
        </p:nvSpPr>
        <p:spPr>
          <a:xfrm>
            <a:off x="777240" y="2779776"/>
            <a:ext cx="3154680" cy="411480"/>
          </a:xfrm>
          <a:prstGeom prst="rect">
            <a:avLst/>
          </a:prstGeom>
          <a:noFill/>
          <a:ln/>
        </p:spPr>
        <p:txBody>
          <a:bodyPr wrap="square" lIns="0" tIns="0" rIns="0" bIns="0" rtlCol="0" anchor="ctr"/>
          <a:lstStyle/>
          <a:p>
            <a:pPr marL="0" indent="0">
              <a:buNone/>
            </a:pPr>
            <a:r>
              <a:rPr lang="en-US" sz="1400" dirty="0">
                <a:solidFill>
                  <a:schemeClr val="tx1"/>
                </a:solidFill>
              </a:rPr>
              <a:t>Fechas mixtas: texto y datetime</a:t>
            </a:r>
            <a:endParaRPr lang="en-US" sz="1400" dirty="0"/>
          </a:p>
        </p:txBody>
      </p:sp>
      <p:sp>
        <p:nvSpPr>
          <p:cNvPr id="12" name="Text 10"/>
          <p:cNvSpPr txBox="1"/>
          <p:nvPr/>
        </p:nvSpPr>
        <p:spPr>
          <a:xfrm>
            <a:off x="5257800" y="2779776"/>
            <a:ext cx="3154680" cy="411480"/>
          </a:xfrm>
          <a:prstGeom prst="rect">
            <a:avLst/>
          </a:prstGeom>
          <a:noFill/>
          <a:ln/>
        </p:spPr>
        <p:txBody>
          <a:bodyPr wrap="square" lIns="0" tIns="0" rIns="0" bIns="0" rtlCol="0" anchor="ctr"/>
          <a:lstStyle/>
          <a:p>
            <a:pPr marL="0" indent="0">
              <a:buNone/>
            </a:pPr>
            <a:r>
              <a:rPr lang="en-US" sz="1400" dirty="0">
                <a:solidFill>
                  <a:schemeClr val="bg1"/>
                </a:solidFill>
              </a:rPr>
              <a:t>Fechas normalizadas a datetime</a:t>
            </a:r>
            <a:endParaRPr lang="en-US" sz="1400" dirty="0"/>
          </a:p>
        </p:txBody>
      </p:sp>
      <p:sp>
        <p:nvSpPr>
          <p:cNvPr id="13" name="Text 11"/>
          <p:cNvSpPr txBox="1"/>
          <p:nvPr/>
        </p:nvSpPr>
        <p:spPr>
          <a:xfrm>
            <a:off x="777240" y="3255264"/>
            <a:ext cx="3154680" cy="411480"/>
          </a:xfrm>
          <a:prstGeom prst="rect">
            <a:avLst/>
          </a:prstGeom>
          <a:noFill/>
          <a:ln/>
        </p:spPr>
        <p:txBody>
          <a:bodyPr wrap="square" lIns="0" tIns="0" rIns="0" bIns="0" rtlCol="0" anchor="ctr"/>
          <a:lstStyle/>
          <a:p>
            <a:pPr marL="0" indent="0">
              <a:buNone/>
            </a:pPr>
            <a:r>
              <a:rPr lang="en-US" sz="1400" dirty="0">
                <a:solidFill>
                  <a:schemeClr val="tx1"/>
                </a:solidFill>
              </a:rPr>
              <a:t>Outliers sin tratar</a:t>
            </a:r>
            <a:endParaRPr lang="en-US" sz="1400" dirty="0"/>
          </a:p>
        </p:txBody>
      </p:sp>
      <p:sp>
        <p:nvSpPr>
          <p:cNvPr id="14" name="Text 12"/>
          <p:cNvSpPr txBox="1"/>
          <p:nvPr/>
        </p:nvSpPr>
        <p:spPr>
          <a:xfrm>
            <a:off x="5257800" y="3255264"/>
            <a:ext cx="3154680" cy="411480"/>
          </a:xfrm>
          <a:prstGeom prst="rect">
            <a:avLst/>
          </a:prstGeom>
          <a:noFill/>
          <a:ln/>
        </p:spPr>
        <p:txBody>
          <a:bodyPr wrap="square" lIns="0" tIns="0" rIns="0" bIns="0" rtlCol="0" anchor="ctr"/>
          <a:lstStyle/>
          <a:p>
            <a:pPr marL="0" indent="0">
              <a:buNone/>
            </a:pPr>
            <a:r>
              <a:rPr lang="en-US" sz="1400" dirty="0">
                <a:solidFill>
                  <a:schemeClr val="bg1"/>
                </a:solidFill>
              </a:rPr>
              <a:t>Outliers winsorizados (IQR × 1,5)</a:t>
            </a:r>
            <a:endParaRPr lang="en-US" sz="1400" dirty="0"/>
          </a:p>
        </p:txBody>
      </p:sp>
      <p:sp>
        <p:nvSpPr>
          <p:cNvPr id="15" name="Text 13"/>
          <p:cNvSpPr txBox="1"/>
          <p:nvPr/>
        </p:nvSpPr>
        <p:spPr>
          <a:xfrm>
            <a:off x="777240" y="3730752"/>
            <a:ext cx="3154680" cy="411480"/>
          </a:xfrm>
          <a:prstGeom prst="rect">
            <a:avLst/>
          </a:prstGeom>
          <a:noFill/>
          <a:ln/>
        </p:spPr>
        <p:txBody>
          <a:bodyPr wrap="square" lIns="0" tIns="0" rIns="0" bIns="0" rtlCol="0" anchor="ctr"/>
          <a:lstStyle/>
          <a:p>
            <a:pPr marL="0" indent="0">
              <a:buNone/>
            </a:pPr>
            <a:r>
              <a:rPr lang="en-US" sz="1400" dirty="0">
                <a:solidFill>
                  <a:schemeClr val="tx1"/>
                </a:solidFill>
              </a:rPr>
              <a:t>Sueño sin integrar</a:t>
            </a:r>
            <a:endParaRPr lang="en-US" sz="1400" dirty="0"/>
          </a:p>
        </p:txBody>
      </p:sp>
      <p:sp>
        <p:nvSpPr>
          <p:cNvPr id="16" name="Text 14"/>
          <p:cNvSpPr txBox="1"/>
          <p:nvPr/>
        </p:nvSpPr>
        <p:spPr>
          <a:xfrm>
            <a:off x="5257800" y="3730752"/>
            <a:ext cx="3154680" cy="411480"/>
          </a:xfrm>
          <a:prstGeom prst="rect">
            <a:avLst/>
          </a:prstGeom>
          <a:noFill/>
          <a:ln/>
        </p:spPr>
        <p:txBody>
          <a:bodyPr wrap="square" lIns="0" tIns="0" rIns="0" bIns="0" rtlCol="0" anchor="ctr"/>
          <a:lstStyle/>
          <a:p>
            <a:pPr marL="0" indent="0">
              <a:buNone/>
            </a:pPr>
            <a:r>
              <a:rPr lang="en-US" sz="1400" dirty="0">
                <a:solidFill>
                  <a:schemeClr val="bg1"/>
                </a:solidFill>
              </a:rPr>
              <a:t>Sueño integrado: +3 columnas</a:t>
            </a:r>
            <a:endParaRPr lang="en-US" sz="1400" dirty="0"/>
          </a:p>
        </p:txBody>
      </p:sp>
      <p:sp>
        <p:nvSpPr>
          <p:cNvPr id="17" name="Flecha antes-después"/>
          <p:cNvSpPr/>
          <p:nvPr/>
        </p:nvSpPr>
        <p:spPr>
          <a:xfrm>
            <a:off x="4206240" y="2514600"/>
            <a:ext cx="731520" cy="457200"/>
          </a:xfrm>
          <a:prstGeom prst="rightArrow">
            <a:avLst/>
          </a:prstGeom>
          <a:solidFill>
            <a:schemeClr val="accent1"/>
          </a:solidFill>
          <a:ln w="12700">
            <a:solidFill>
              <a:schemeClr val="accent1"/>
            </a:solidFill>
            <a:prstDash val="solid"/>
          </a:ln>
        </p:spPr>
        <p:txBody>
          <a:bodyPr/>
          <a:lstStyle/>
          <a:p>
            <a:endParaRPr lang="es-CO"/>
          </a:p>
        </p:txBody>
      </p:sp>
      <p:sp>
        <p:nvSpPr>
          <p:cNvPr id="18" name="Text 16"/>
          <p:cNvSpPr txBox="1"/>
          <p:nvPr/>
        </p:nvSpPr>
        <p:spPr>
          <a:xfrm>
            <a:off x="548640" y="4480560"/>
            <a:ext cx="8046720" cy="228600"/>
          </a:xfrm>
          <a:prstGeom prst="rect">
            <a:avLst/>
          </a:prstGeom>
          <a:noFill/>
          <a:ln/>
        </p:spPr>
        <p:txBody>
          <a:bodyPr wrap="square" lIns="0" tIns="0" rIns="0" bIns="0" rtlCol="0" anchor="t"/>
          <a:lstStyle/>
          <a:p>
            <a:pPr marL="0" indent="0">
              <a:buNone/>
            </a:pPr>
            <a:r>
              <a:rPr lang="en-US" sz="1200" dirty="0">
                <a:solidFill>
                  <a:schemeClr val="accent5"/>
                </a:solidFill>
              </a:rPr>
              <a:t>−72 filas: días en que el tracker no se usó (0 pasos y 1.440 min sedentarios)</a:t>
            </a:r>
            <a:endParaRPr lang="en-US" sz="12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600" b="1" dirty="0">
                <a:solidFill>
                  <a:schemeClr val="tx1"/>
                </a:solidFill>
              </a:rPr>
              <a:t>Lo que dicen los datos</a:t>
            </a:r>
            <a:endParaRPr lang="en-US" sz="36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1" name="Picture 729"/>
          <p:cNvPicPr/>
          <p:nvPr/>
        </p:nvPicPr>
        <p:blipFill>
          <a:blip r:embed="rId3"/>
          <a:stretch>
            <a:fillRect/>
          </a:stretch>
        </p:blipFill>
        <p:spPr>
          <a:xfrm>
            <a:off x="290349" y="1202690"/>
            <a:ext cx="2799692" cy="1540510"/>
          </a:xfrm>
          <a:prstGeom prst="rect">
            <a:avLst/>
          </a:prstGeom>
        </p:spPr>
      </p:pic>
      <p:pic>
        <p:nvPicPr>
          <p:cNvPr id="12" name="Picture 738"/>
          <p:cNvPicPr/>
          <p:nvPr/>
        </p:nvPicPr>
        <p:blipFill>
          <a:blip r:embed="rId4"/>
          <a:stretch>
            <a:fillRect/>
          </a:stretch>
        </p:blipFill>
        <p:spPr>
          <a:xfrm>
            <a:off x="3474742" y="1202690"/>
            <a:ext cx="2651738" cy="1555750"/>
          </a:xfrm>
          <a:prstGeom prst="rect">
            <a:avLst/>
          </a:prstGeom>
        </p:spPr>
      </p:pic>
      <p:grpSp>
        <p:nvGrpSpPr>
          <p:cNvPr id="14" name="Group 4615"/>
          <p:cNvGrpSpPr/>
          <p:nvPr/>
        </p:nvGrpSpPr>
        <p:grpSpPr>
          <a:xfrm>
            <a:off x="548640" y="1202690"/>
            <a:ext cx="8138160" cy="3391989"/>
            <a:chOff x="-1030309" y="1283396"/>
            <a:chExt cx="8138333" cy="3392150"/>
          </a:xfrm>
        </p:grpSpPr>
        <p:pic>
          <p:nvPicPr>
            <p:cNvPr id="15" name="Picture 740"/>
            <p:cNvPicPr/>
            <p:nvPr/>
          </p:nvPicPr>
          <p:blipFill>
            <a:blip r:embed="rId5"/>
            <a:stretch>
              <a:fillRect/>
            </a:stretch>
          </p:blipFill>
          <p:spPr>
            <a:xfrm>
              <a:off x="4684812" y="1283396"/>
              <a:ext cx="2423212" cy="1513150"/>
            </a:xfrm>
            <a:prstGeom prst="rect">
              <a:avLst/>
            </a:prstGeom>
          </p:spPr>
        </p:pic>
        <p:pic>
          <p:nvPicPr>
            <p:cNvPr id="16" name="Picture 741"/>
            <p:cNvPicPr/>
            <p:nvPr/>
          </p:nvPicPr>
          <p:blipFill>
            <a:blip r:embed="rId6"/>
            <a:stretch>
              <a:fillRect/>
            </a:stretch>
          </p:blipFill>
          <p:spPr>
            <a:xfrm>
              <a:off x="-1030309" y="3075631"/>
              <a:ext cx="2477594" cy="1599915"/>
            </a:xfrm>
            <a:prstGeom prst="rect">
              <a:avLst/>
            </a:prstGeom>
          </p:spPr>
        </p:pic>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600" b="1" dirty="0">
                <a:solidFill>
                  <a:schemeClr val="tx1"/>
                </a:solidFill>
              </a:rPr>
              <a:t>Listos para machine learning</a:t>
            </a:r>
            <a:endParaRPr lang="en-US" sz="3600" dirty="0"/>
          </a:p>
        </p:txBody>
      </p:sp>
      <p:sp>
        <p:nvSpPr>
          <p:cNvPr id="3" name="Técnica RobustScaler"/>
          <p:cNvSpPr/>
          <p:nvPr/>
        </p:nvSpPr>
        <p:spPr>
          <a:xfrm>
            <a:off x="548640" y="1280160"/>
            <a:ext cx="2468880" cy="2423160"/>
          </a:xfrm>
          <a:prstGeom prst="roundRect">
            <a:avLst>
              <a:gd name="adj" fmla="val 4528"/>
            </a:avLst>
          </a:prstGeom>
          <a:solidFill>
            <a:schemeClr val="bg2"/>
          </a:solidFill>
          <a:ln w="12700">
            <a:solidFill>
              <a:schemeClr val="bg2"/>
            </a:solidFill>
            <a:prstDash val="solid"/>
          </a:ln>
        </p:spPr>
        <p:txBody>
          <a:bodyPr/>
          <a:lstStyle/>
          <a:p>
            <a:endParaRPr lang="es-CO"/>
          </a:p>
        </p:txBody>
      </p:sp>
      <p:sp>
        <p:nvSpPr>
          <p:cNvPr id="4" name="Badge RobustScaler círculo"/>
          <p:cNvSpPr/>
          <p:nvPr/>
        </p:nvSpPr>
        <p:spPr>
          <a:xfrm>
            <a:off x="754380" y="1394460"/>
            <a:ext cx="594360" cy="594360"/>
          </a:xfrm>
          <a:prstGeom prst="ellipse">
            <a:avLst/>
          </a:prstGeom>
          <a:solidFill>
            <a:srgbClr val="FF6B5B"/>
          </a:solidFill>
          <a:ln w="12700">
            <a:solidFill>
              <a:srgbClr val="FF6B5B"/>
            </a:solidFill>
            <a:prstDash val="solid"/>
          </a:ln>
        </p:spPr>
        <p:txBody>
          <a:bodyPr/>
          <a:lstStyle/>
          <a:p>
            <a:endParaRPr lang="es-CO"/>
          </a:p>
        </p:txBody>
      </p:sp>
      <p:pic>
        <p:nvPicPr>
          <p:cNvPr id="5" name="Badge RobustScaler icono" descr="Badge RobustScaler"/>
          <p:cNvPicPr>
            <a:picLocks noChangeAspect="1"/>
          </p:cNvPicPr>
          <p:nvPr/>
        </p:nvPicPr>
        <p:blipFill>
          <a:blip r:embed="rId3"/>
          <a:stretch>
            <a:fillRect/>
          </a:stretch>
        </p:blipFill>
        <p:spPr>
          <a:xfrm>
            <a:off x="891083" y="1531163"/>
            <a:ext cx="320954" cy="320954"/>
          </a:xfrm>
          <a:prstGeom prst="rect">
            <a:avLst/>
          </a:prstGeom>
        </p:spPr>
      </p:pic>
      <p:sp>
        <p:nvSpPr>
          <p:cNvPr id="6" name="Text 3"/>
          <p:cNvSpPr txBox="1"/>
          <p:nvPr/>
        </p:nvSpPr>
        <p:spPr>
          <a:xfrm>
            <a:off x="777240" y="2148840"/>
            <a:ext cx="2103120" cy="365760"/>
          </a:xfrm>
          <a:prstGeom prst="rect">
            <a:avLst/>
          </a:prstGeom>
          <a:noFill/>
          <a:ln/>
        </p:spPr>
        <p:txBody>
          <a:bodyPr wrap="square" lIns="0" tIns="0" rIns="0" bIns="0" rtlCol="0" anchor="t"/>
          <a:lstStyle/>
          <a:p>
            <a:pPr marL="0" indent="0">
              <a:buNone/>
            </a:pPr>
            <a:r>
              <a:rPr lang="en-US" sz="1800" b="1" dirty="0">
                <a:solidFill>
                  <a:schemeClr val="tx1"/>
                </a:solidFill>
              </a:rPr>
              <a:t>RobustScaler</a:t>
            </a:r>
            <a:endParaRPr lang="en-US" sz="1800" dirty="0"/>
          </a:p>
        </p:txBody>
      </p:sp>
      <p:sp>
        <p:nvSpPr>
          <p:cNvPr id="7" name="Text 4"/>
          <p:cNvSpPr txBox="1"/>
          <p:nvPr/>
        </p:nvSpPr>
        <p:spPr>
          <a:xfrm>
            <a:off x="777240" y="2560320"/>
            <a:ext cx="2057400" cy="685800"/>
          </a:xfrm>
          <a:prstGeom prst="rect">
            <a:avLst/>
          </a:prstGeom>
          <a:noFill/>
          <a:ln/>
        </p:spPr>
        <p:txBody>
          <a:bodyPr wrap="square" lIns="0" tIns="0" rIns="0" bIns="0" rtlCol="0" anchor="t"/>
          <a:lstStyle/>
          <a:p>
            <a:pPr marL="0" indent="0">
              <a:buNone/>
            </a:pPr>
            <a:r>
              <a:rPr lang="en-US" sz="1400" dirty="0">
                <a:solidFill>
                  <a:schemeClr val="tx1"/>
                </a:solidFill>
              </a:rPr>
              <a:t>Pasos, calorías y minutos muy activos</a:t>
            </a:r>
            <a:endParaRPr lang="en-US" sz="1400" dirty="0"/>
          </a:p>
        </p:txBody>
      </p:sp>
      <p:sp>
        <p:nvSpPr>
          <p:cNvPr id="8" name="Text 5"/>
          <p:cNvSpPr txBox="1"/>
          <p:nvPr/>
        </p:nvSpPr>
        <p:spPr>
          <a:xfrm>
            <a:off x="777240" y="3273552"/>
            <a:ext cx="2057400" cy="365760"/>
          </a:xfrm>
          <a:prstGeom prst="rect">
            <a:avLst/>
          </a:prstGeom>
          <a:noFill/>
          <a:ln/>
        </p:spPr>
        <p:txBody>
          <a:bodyPr wrap="square" lIns="0" tIns="0" rIns="0" bIns="0" rtlCol="0" anchor="t"/>
          <a:lstStyle/>
          <a:p>
            <a:pPr marL="0" indent="0">
              <a:buNone/>
            </a:pPr>
            <a:r>
              <a:rPr lang="en-US" sz="1200" i="1" dirty="0">
                <a:solidFill>
                  <a:schemeClr val="accent5"/>
                </a:solidFill>
              </a:rPr>
              <a:t>Resiste outliers y colas largas</a:t>
            </a:r>
            <a:endParaRPr lang="en-US" sz="1200" dirty="0"/>
          </a:p>
        </p:txBody>
      </p:sp>
      <p:sp>
        <p:nvSpPr>
          <p:cNvPr id="9" name="Técnica MinMaxScaler"/>
          <p:cNvSpPr/>
          <p:nvPr/>
        </p:nvSpPr>
        <p:spPr>
          <a:xfrm>
            <a:off x="3337560" y="1280160"/>
            <a:ext cx="2468880" cy="2423160"/>
          </a:xfrm>
          <a:prstGeom prst="roundRect">
            <a:avLst>
              <a:gd name="adj" fmla="val 4528"/>
            </a:avLst>
          </a:prstGeom>
          <a:solidFill>
            <a:schemeClr val="bg2"/>
          </a:solidFill>
          <a:ln w="12700">
            <a:solidFill>
              <a:schemeClr val="bg2"/>
            </a:solidFill>
            <a:prstDash val="solid"/>
          </a:ln>
        </p:spPr>
        <p:txBody>
          <a:bodyPr/>
          <a:lstStyle/>
          <a:p>
            <a:endParaRPr lang="es-CO"/>
          </a:p>
        </p:txBody>
      </p:sp>
      <p:sp>
        <p:nvSpPr>
          <p:cNvPr id="10" name="Badge MinMaxScaler círculo"/>
          <p:cNvSpPr/>
          <p:nvPr/>
        </p:nvSpPr>
        <p:spPr>
          <a:xfrm>
            <a:off x="3543300" y="1394460"/>
            <a:ext cx="594360" cy="594360"/>
          </a:xfrm>
          <a:prstGeom prst="ellipse">
            <a:avLst/>
          </a:prstGeom>
          <a:solidFill>
            <a:srgbClr val="FF6B5B"/>
          </a:solidFill>
          <a:ln w="12700">
            <a:solidFill>
              <a:srgbClr val="FF6B5B"/>
            </a:solidFill>
            <a:prstDash val="solid"/>
          </a:ln>
        </p:spPr>
        <p:txBody>
          <a:bodyPr/>
          <a:lstStyle/>
          <a:p>
            <a:endParaRPr lang="es-CO"/>
          </a:p>
        </p:txBody>
      </p:sp>
      <p:pic>
        <p:nvPicPr>
          <p:cNvPr id="11" name="Badge MinMaxScaler icono" descr="Badge MinMaxScaler"/>
          <p:cNvPicPr>
            <a:picLocks noChangeAspect="1"/>
          </p:cNvPicPr>
          <p:nvPr/>
        </p:nvPicPr>
        <p:blipFill>
          <a:blip r:embed="rId4"/>
          <a:stretch>
            <a:fillRect/>
          </a:stretch>
        </p:blipFill>
        <p:spPr>
          <a:xfrm>
            <a:off x="3680003" y="1531163"/>
            <a:ext cx="320954" cy="320954"/>
          </a:xfrm>
          <a:prstGeom prst="rect">
            <a:avLst/>
          </a:prstGeom>
        </p:spPr>
      </p:pic>
      <p:sp>
        <p:nvSpPr>
          <p:cNvPr id="12" name="Text 8"/>
          <p:cNvSpPr txBox="1"/>
          <p:nvPr/>
        </p:nvSpPr>
        <p:spPr>
          <a:xfrm>
            <a:off x="3566160" y="2148840"/>
            <a:ext cx="2103120" cy="365760"/>
          </a:xfrm>
          <a:prstGeom prst="rect">
            <a:avLst/>
          </a:prstGeom>
          <a:noFill/>
          <a:ln/>
        </p:spPr>
        <p:txBody>
          <a:bodyPr wrap="square" lIns="0" tIns="0" rIns="0" bIns="0" rtlCol="0" anchor="t"/>
          <a:lstStyle/>
          <a:p>
            <a:pPr marL="0" indent="0">
              <a:buNone/>
            </a:pPr>
            <a:r>
              <a:rPr lang="en-US" sz="1800" b="1" dirty="0">
                <a:solidFill>
                  <a:schemeClr val="tx1"/>
                </a:solidFill>
              </a:rPr>
              <a:t>MinMaxScaler</a:t>
            </a:r>
            <a:endParaRPr lang="en-US" sz="1800" dirty="0"/>
          </a:p>
        </p:txBody>
      </p:sp>
      <p:sp>
        <p:nvSpPr>
          <p:cNvPr id="13" name="Text 9"/>
          <p:cNvSpPr txBox="1"/>
          <p:nvPr/>
        </p:nvSpPr>
        <p:spPr>
          <a:xfrm>
            <a:off x="3566160" y="2560320"/>
            <a:ext cx="2057400" cy="685800"/>
          </a:xfrm>
          <a:prstGeom prst="rect">
            <a:avLst/>
          </a:prstGeom>
          <a:noFill/>
          <a:ln/>
        </p:spPr>
        <p:txBody>
          <a:bodyPr wrap="square" lIns="0" tIns="0" rIns="0" bIns="0" rtlCol="0" anchor="t"/>
          <a:lstStyle/>
          <a:p>
            <a:pPr marL="0" indent="0">
              <a:buNone/>
            </a:pPr>
            <a:r>
              <a:rPr lang="en-US" sz="1400" dirty="0">
                <a:solidFill>
                  <a:schemeClr val="tx1"/>
                </a:solidFill>
              </a:rPr>
              <a:t>Sueño, tiempo en cama, sedentarios y eficiencia</a:t>
            </a:r>
            <a:endParaRPr lang="en-US" sz="1400" dirty="0"/>
          </a:p>
        </p:txBody>
      </p:sp>
      <p:sp>
        <p:nvSpPr>
          <p:cNvPr id="14" name="Text 10"/>
          <p:cNvSpPr txBox="1"/>
          <p:nvPr/>
        </p:nvSpPr>
        <p:spPr>
          <a:xfrm>
            <a:off x="3566160" y="3273552"/>
            <a:ext cx="2057400" cy="365760"/>
          </a:xfrm>
          <a:prstGeom prst="rect">
            <a:avLst/>
          </a:prstGeom>
          <a:noFill/>
          <a:ln/>
        </p:spPr>
        <p:txBody>
          <a:bodyPr wrap="square" lIns="0" tIns="0" rIns="0" bIns="0" rtlCol="0" anchor="t"/>
          <a:lstStyle/>
          <a:p>
            <a:pPr marL="0" indent="0">
              <a:buNone/>
            </a:pPr>
            <a:r>
              <a:rPr lang="en-US" sz="1200" i="1" dirty="0">
                <a:solidFill>
                  <a:schemeClr val="accent5"/>
                </a:solidFill>
              </a:rPr>
              <a:t>Rangos acotados en [0, 1]</a:t>
            </a:r>
            <a:endParaRPr lang="en-US" sz="1200" dirty="0"/>
          </a:p>
        </p:txBody>
      </p:sp>
      <p:sp>
        <p:nvSpPr>
          <p:cNvPr id="15" name="Técnica One-Hot Encoding"/>
          <p:cNvSpPr/>
          <p:nvPr/>
        </p:nvSpPr>
        <p:spPr>
          <a:xfrm>
            <a:off x="6126480" y="1280160"/>
            <a:ext cx="2468880" cy="2423160"/>
          </a:xfrm>
          <a:prstGeom prst="roundRect">
            <a:avLst>
              <a:gd name="adj" fmla="val 4528"/>
            </a:avLst>
          </a:prstGeom>
          <a:solidFill>
            <a:schemeClr val="bg2"/>
          </a:solidFill>
          <a:ln w="12700">
            <a:solidFill>
              <a:schemeClr val="bg2"/>
            </a:solidFill>
            <a:prstDash val="solid"/>
          </a:ln>
        </p:spPr>
        <p:txBody>
          <a:bodyPr/>
          <a:lstStyle/>
          <a:p>
            <a:endParaRPr lang="es-CO"/>
          </a:p>
        </p:txBody>
      </p:sp>
      <p:sp>
        <p:nvSpPr>
          <p:cNvPr id="16" name="Badge One-Hot Encoding círculo"/>
          <p:cNvSpPr/>
          <p:nvPr/>
        </p:nvSpPr>
        <p:spPr>
          <a:xfrm>
            <a:off x="6332220" y="1394460"/>
            <a:ext cx="594360" cy="594360"/>
          </a:xfrm>
          <a:prstGeom prst="ellipse">
            <a:avLst/>
          </a:prstGeom>
          <a:solidFill>
            <a:srgbClr val="FF6B5B"/>
          </a:solidFill>
          <a:ln w="12700">
            <a:solidFill>
              <a:srgbClr val="FF6B5B"/>
            </a:solidFill>
            <a:prstDash val="solid"/>
          </a:ln>
        </p:spPr>
        <p:txBody>
          <a:bodyPr/>
          <a:lstStyle/>
          <a:p>
            <a:endParaRPr lang="es-CO"/>
          </a:p>
        </p:txBody>
      </p:sp>
      <p:pic>
        <p:nvPicPr>
          <p:cNvPr id="17" name="Badge One-Hot Encoding icono" descr="Badge One-Hot Encoding"/>
          <p:cNvPicPr>
            <a:picLocks noChangeAspect="1"/>
          </p:cNvPicPr>
          <p:nvPr/>
        </p:nvPicPr>
        <p:blipFill>
          <a:blip r:embed="rId5"/>
          <a:stretch>
            <a:fillRect/>
          </a:stretch>
        </p:blipFill>
        <p:spPr>
          <a:xfrm>
            <a:off x="6468923" y="1531163"/>
            <a:ext cx="320954" cy="320954"/>
          </a:xfrm>
          <a:prstGeom prst="rect">
            <a:avLst/>
          </a:prstGeom>
        </p:spPr>
      </p:pic>
      <p:sp>
        <p:nvSpPr>
          <p:cNvPr id="18" name="Text 13"/>
          <p:cNvSpPr txBox="1"/>
          <p:nvPr/>
        </p:nvSpPr>
        <p:spPr>
          <a:xfrm>
            <a:off x="6355080" y="2148840"/>
            <a:ext cx="2103120" cy="365760"/>
          </a:xfrm>
          <a:prstGeom prst="rect">
            <a:avLst/>
          </a:prstGeom>
          <a:noFill/>
          <a:ln/>
        </p:spPr>
        <p:txBody>
          <a:bodyPr wrap="square" lIns="0" tIns="0" rIns="0" bIns="0" rtlCol="0" anchor="t"/>
          <a:lstStyle/>
          <a:p>
            <a:pPr marL="0" indent="0">
              <a:buNone/>
            </a:pPr>
            <a:r>
              <a:rPr lang="en-US" sz="1800" b="1" dirty="0">
                <a:solidFill>
                  <a:schemeClr val="tx1"/>
                </a:solidFill>
              </a:rPr>
              <a:t>One-Hot Encoding</a:t>
            </a:r>
            <a:endParaRPr lang="en-US" sz="1800" dirty="0"/>
          </a:p>
        </p:txBody>
      </p:sp>
      <p:sp>
        <p:nvSpPr>
          <p:cNvPr id="19" name="Text 14"/>
          <p:cNvSpPr txBox="1"/>
          <p:nvPr/>
        </p:nvSpPr>
        <p:spPr>
          <a:xfrm>
            <a:off x="6355080" y="2560320"/>
            <a:ext cx="2057400" cy="685800"/>
          </a:xfrm>
          <a:prstGeom prst="rect">
            <a:avLst/>
          </a:prstGeom>
          <a:noFill/>
          <a:ln/>
        </p:spPr>
        <p:txBody>
          <a:bodyPr wrap="square" lIns="0" tIns="0" rIns="0" bIns="0" rtlCol="0" anchor="t"/>
          <a:lstStyle/>
          <a:p>
            <a:pPr marL="0" indent="0">
              <a:buNone/>
            </a:pPr>
            <a:r>
              <a:rPr lang="en-US" sz="1400" dirty="0">
                <a:solidFill>
                  <a:schemeClr val="tx1"/>
                </a:solidFill>
              </a:rPr>
              <a:t>Nivel de pasos y nivel de sedentarismo</a:t>
            </a:r>
            <a:endParaRPr lang="en-US" sz="1400" dirty="0"/>
          </a:p>
        </p:txBody>
      </p:sp>
      <p:sp>
        <p:nvSpPr>
          <p:cNvPr id="20" name="Text 15"/>
          <p:cNvSpPr txBox="1"/>
          <p:nvPr/>
        </p:nvSpPr>
        <p:spPr>
          <a:xfrm>
            <a:off x="6355080" y="3273552"/>
            <a:ext cx="2057400" cy="365760"/>
          </a:xfrm>
          <a:prstGeom prst="rect">
            <a:avLst/>
          </a:prstGeom>
          <a:noFill/>
          <a:ln/>
        </p:spPr>
        <p:txBody>
          <a:bodyPr wrap="square" lIns="0" tIns="0" rIns="0" bIns="0" rtlCol="0" anchor="t"/>
          <a:lstStyle/>
          <a:p>
            <a:pPr marL="0" indent="0">
              <a:buNone/>
            </a:pPr>
            <a:r>
              <a:rPr lang="en-US" sz="1200" i="1" dirty="0">
                <a:solidFill>
                  <a:schemeClr val="accent5"/>
                </a:solidFill>
              </a:rPr>
              <a:t>drop_first evita multicolinealidad</a:t>
            </a:r>
            <a:endParaRPr lang="en-US" sz="1200" dirty="0"/>
          </a:p>
        </p:txBody>
      </p:sp>
      <p:sp>
        <p:nvSpPr>
          <p:cNvPr id="21" name="Tarjeta matriz final"/>
          <p:cNvSpPr/>
          <p:nvPr/>
        </p:nvSpPr>
        <p:spPr>
          <a:xfrm>
            <a:off x="548640" y="3886200"/>
            <a:ext cx="8046720" cy="731520"/>
          </a:xfrm>
          <a:prstGeom prst="roundRect">
            <a:avLst>
              <a:gd name="adj" fmla="val 15000"/>
            </a:avLst>
          </a:prstGeom>
          <a:solidFill>
            <a:schemeClr val="tx1"/>
          </a:solidFill>
          <a:ln w="12700">
            <a:solidFill>
              <a:schemeClr val="tx1"/>
            </a:solidFill>
            <a:prstDash val="solid"/>
          </a:ln>
        </p:spPr>
        <p:txBody>
          <a:bodyPr/>
          <a:lstStyle/>
          <a:p>
            <a:endParaRPr lang="es-CO"/>
          </a:p>
        </p:txBody>
      </p:sp>
      <p:sp>
        <p:nvSpPr>
          <p:cNvPr id="22" name="Text 17"/>
          <p:cNvSpPr txBox="1"/>
          <p:nvPr/>
        </p:nvSpPr>
        <p:spPr>
          <a:xfrm>
            <a:off x="822960" y="3886200"/>
            <a:ext cx="2194560" cy="731520"/>
          </a:xfrm>
          <a:prstGeom prst="rect">
            <a:avLst/>
          </a:prstGeom>
          <a:noFill/>
          <a:ln/>
        </p:spPr>
        <p:txBody>
          <a:bodyPr wrap="square" lIns="0" tIns="0" rIns="0" bIns="0" rtlCol="0" anchor="ctr"/>
          <a:lstStyle/>
          <a:p>
            <a:pPr marL="0" indent="0">
              <a:buNone/>
            </a:pPr>
            <a:r>
              <a:rPr lang="en-US" sz="3200" b="1" dirty="0">
                <a:solidFill>
                  <a:schemeClr val="accent1"/>
                </a:solidFill>
              </a:rPr>
              <a:t>868 × 17</a:t>
            </a:r>
            <a:endParaRPr lang="en-US" sz="3200" dirty="0"/>
          </a:p>
        </p:txBody>
      </p:sp>
      <p:sp>
        <p:nvSpPr>
          <p:cNvPr id="23" name="Text 18"/>
          <p:cNvSpPr txBox="1"/>
          <p:nvPr/>
        </p:nvSpPr>
        <p:spPr>
          <a:xfrm>
            <a:off x="3108960" y="3886200"/>
            <a:ext cx="5303520" cy="731520"/>
          </a:xfrm>
          <a:prstGeom prst="rect">
            <a:avLst/>
          </a:prstGeom>
          <a:noFill/>
          <a:ln/>
        </p:spPr>
        <p:txBody>
          <a:bodyPr wrap="square" lIns="0" tIns="0" rIns="0" bIns="0" rtlCol="0" anchor="ctr"/>
          <a:lstStyle/>
          <a:p>
            <a:pPr marL="0" indent="0">
              <a:buNone/>
            </a:pPr>
            <a:r>
              <a:rPr lang="en-US" sz="1400" dirty="0">
                <a:solidFill>
                  <a:schemeClr val="bg1"/>
                </a:solidFill>
              </a:rPr>
              <a:t>Matriz final lista para scikit-learn: sin nulos introducidos y categóricas en {0, 1}</a:t>
            </a:r>
            <a:endParaRPr lang="en-US" sz="14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600" b="1" dirty="0">
                <a:solidFill>
                  <a:schemeClr val="tx1"/>
                </a:solidFill>
              </a:rPr>
              <a:t>Reglas que se entienden</a:t>
            </a:r>
            <a:endParaRPr lang="en-US" sz="3600" dirty="0"/>
          </a:p>
        </p:txBody>
      </p:sp>
      <p:sp>
        <p:nvSpPr>
          <p:cNvPr id="3" name="Conector Sí"/>
          <p:cNvSpPr/>
          <p:nvPr/>
        </p:nvSpPr>
        <p:spPr>
          <a:xfrm flipH="1">
            <a:off x="2240280" y="1691640"/>
            <a:ext cx="2331720" cy="320040"/>
          </a:xfrm>
          <a:prstGeom prst="line">
            <a:avLst/>
          </a:prstGeom>
          <a:noFill/>
          <a:ln w="19050">
            <a:solidFill>
              <a:srgbClr val="56737A"/>
            </a:solidFill>
            <a:prstDash val="solid"/>
          </a:ln>
        </p:spPr>
        <p:txBody>
          <a:bodyPr/>
          <a:lstStyle/>
          <a:p>
            <a:endParaRPr lang="es-CO"/>
          </a:p>
        </p:txBody>
      </p:sp>
      <p:sp>
        <p:nvSpPr>
          <p:cNvPr id="4" name="Etiqueta Sí"/>
          <p:cNvSpPr/>
          <p:nvPr/>
        </p:nvSpPr>
        <p:spPr>
          <a:xfrm>
            <a:off x="3223260" y="1751076"/>
            <a:ext cx="365760" cy="201168"/>
          </a:xfrm>
          <a:prstGeom prst="roundRect">
            <a:avLst>
              <a:gd name="adj" fmla="val 22727"/>
            </a:avLst>
          </a:prstGeom>
          <a:solidFill>
            <a:schemeClr val="bg1"/>
          </a:solidFill>
          <a:ln w="12700">
            <a:solidFill>
              <a:schemeClr val="bg1"/>
            </a:solidFill>
            <a:prstDash val="solid"/>
          </a:ln>
        </p:spPr>
        <p:txBody>
          <a:bodyPr/>
          <a:lstStyle/>
          <a:p>
            <a:endParaRPr lang="es-CO"/>
          </a:p>
        </p:txBody>
      </p:sp>
      <p:sp>
        <p:nvSpPr>
          <p:cNvPr id="5" name="Text 3"/>
          <p:cNvSpPr txBox="1"/>
          <p:nvPr/>
        </p:nvSpPr>
        <p:spPr>
          <a:xfrm>
            <a:off x="3223260" y="1751076"/>
            <a:ext cx="365760" cy="201168"/>
          </a:xfrm>
          <a:prstGeom prst="rect">
            <a:avLst/>
          </a:prstGeom>
          <a:noFill/>
          <a:ln/>
        </p:spPr>
        <p:txBody>
          <a:bodyPr wrap="square" lIns="0" tIns="0" rIns="0" bIns="0" rtlCol="0" anchor="ctr"/>
          <a:lstStyle/>
          <a:p>
            <a:pPr marL="0" indent="0" algn="ctr">
              <a:buNone/>
            </a:pPr>
            <a:r>
              <a:rPr lang="en-US" sz="1000" b="1" dirty="0">
                <a:solidFill>
                  <a:schemeClr val="tx2"/>
                </a:solidFill>
              </a:rPr>
              <a:t>Sí</a:t>
            </a:r>
            <a:endParaRPr lang="en-US" sz="1000" dirty="0"/>
          </a:p>
        </p:txBody>
      </p:sp>
      <p:sp>
        <p:nvSpPr>
          <p:cNvPr id="6" name="Conector No"/>
          <p:cNvSpPr/>
          <p:nvPr/>
        </p:nvSpPr>
        <p:spPr>
          <a:xfrm>
            <a:off x="4572000" y="1691640"/>
            <a:ext cx="2057400" cy="320040"/>
          </a:xfrm>
          <a:prstGeom prst="line">
            <a:avLst/>
          </a:prstGeom>
          <a:noFill/>
          <a:ln w="19050">
            <a:solidFill>
              <a:srgbClr val="56737A"/>
            </a:solidFill>
            <a:prstDash val="solid"/>
          </a:ln>
        </p:spPr>
        <p:txBody>
          <a:bodyPr/>
          <a:lstStyle/>
          <a:p>
            <a:endParaRPr lang="es-CO"/>
          </a:p>
        </p:txBody>
      </p:sp>
      <p:sp>
        <p:nvSpPr>
          <p:cNvPr id="7" name="Etiqueta No"/>
          <p:cNvSpPr/>
          <p:nvPr/>
        </p:nvSpPr>
        <p:spPr>
          <a:xfrm>
            <a:off x="5417820" y="1751076"/>
            <a:ext cx="365760" cy="201168"/>
          </a:xfrm>
          <a:prstGeom prst="roundRect">
            <a:avLst>
              <a:gd name="adj" fmla="val 22727"/>
            </a:avLst>
          </a:prstGeom>
          <a:solidFill>
            <a:schemeClr val="bg1"/>
          </a:solidFill>
          <a:ln w="12700">
            <a:solidFill>
              <a:schemeClr val="bg1"/>
            </a:solidFill>
            <a:prstDash val="solid"/>
          </a:ln>
        </p:spPr>
        <p:txBody>
          <a:bodyPr/>
          <a:lstStyle/>
          <a:p>
            <a:endParaRPr lang="es-CO"/>
          </a:p>
        </p:txBody>
      </p:sp>
      <p:sp>
        <p:nvSpPr>
          <p:cNvPr id="8" name="Text 6"/>
          <p:cNvSpPr txBox="1"/>
          <p:nvPr/>
        </p:nvSpPr>
        <p:spPr>
          <a:xfrm>
            <a:off x="5417820" y="1751076"/>
            <a:ext cx="365760" cy="201168"/>
          </a:xfrm>
          <a:prstGeom prst="rect">
            <a:avLst/>
          </a:prstGeom>
          <a:noFill/>
          <a:ln/>
        </p:spPr>
        <p:txBody>
          <a:bodyPr wrap="square" lIns="0" tIns="0" rIns="0" bIns="0" rtlCol="0" anchor="ctr"/>
          <a:lstStyle/>
          <a:p>
            <a:pPr marL="0" indent="0" algn="ctr">
              <a:buNone/>
            </a:pPr>
            <a:r>
              <a:rPr lang="en-US" sz="1000" b="1" dirty="0">
                <a:solidFill>
                  <a:schemeClr val="tx2"/>
                </a:solidFill>
              </a:rPr>
              <a:t>No</a:t>
            </a:r>
            <a:endParaRPr lang="en-US" sz="1000" dirty="0"/>
          </a:p>
        </p:txBody>
      </p:sp>
      <p:sp>
        <p:nvSpPr>
          <p:cNvPr id="9" name="Conector Sí"/>
          <p:cNvSpPr/>
          <p:nvPr/>
        </p:nvSpPr>
        <p:spPr>
          <a:xfrm flipH="1">
            <a:off x="1325880" y="2514600"/>
            <a:ext cx="914400" cy="320040"/>
          </a:xfrm>
          <a:prstGeom prst="line">
            <a:avLst/>
          </a:prstGeom>
          <a:noFill/>
          <a:ln w="19050">
            <a:solidFill>
              <a:srgbClr val="56737A"/>
            </a:solidFill>
            <a:prstDash val="solid"/>
          </a:ln>
        </p:spPr>
        <p:txBody>
          <a:bodyPr/>
          <a:lstStyle/>
          <a:p>
            <a:endParaRPr lang="es-CO"/>
          </a:p>
        </p:txBody>
      </p:sp>
      <p:sp>
        <p:nvSpPr>
          <p:cNvPr id="10" name="Etiqueta Sí"/>
          <p:cNvSpPr/>
          <p:nvPr/>
        </p:nvSpPr>
        <p:spPr>
          <a:xfrm>
            <a:off x="1600200" y="2574036"/>
            <a:ext cx="365760" cy="201168"/>
          </a:xfrm>
          <a:prstGeom prst="roundRect">
            <a:avLst>
              <a:gd name="adj" fmla="val 22727"/>
            </a:avLst>
          </a:prstGeom>
          <a:solidFill>
            <a:schemeClr val="bg1"/>
          </a:solidFill>
          <a:ln w="12700">
            <a:solidFill>
              <a:schemeClr val="bg1"/>
            </a:solidFill>
            <a:prstDash val="solid"/>
          </a:ln>
        </p:spPr>
        <p:txBody>
          <a:bodyPr/>
          <a:lstStyle/>
          <a:p>
            <a:endParaRPr lang="es-CO"/>
          </a:p>
        </p:txBody>
      </p:sp>
      <p:sp>
        <p:nvSpPr>
          <p:cNvPr id="11" name="Text 9"/>
          <p:cNvSpPr txBox="1"/>
          <p:nvPr/>
        </p:nvSpPr>
        <p:spPr>
          <a:xfrm>
            <a:off x="1600200" y="2574036"/>
            <a:ext cx="365760" cy="201168"/>
          </a:xfrm>
          <a:prstGeom prst="rect">
            <a:avLst/>
          </a:prstGeom>
          <a:noFill/>
          <a:ln/>
        </p:spPr>
        <p:txBody>
          <a:bodyPr wrap="square" lIns="0" tIns="0" rIns="0" bIns="0" rtlCol="0" anchor="ctr"/>
          <a:lstStyle/>
          <a:p>
            <a:pPr marL="0" indent="0" algn="ctr">
              <a:buNone/>
            </a:pPr>
            <a:r>
              <a:rPr lang="en-US" sz="1000" b="1" dirty="0">
                <a:solidFill>
                  <a:schemeClr val="tx2"/>
                </a:solidFill>
              </a:rPr>
              <a:t>Sí</a:t>
            </a:r>
            <a:endParaRPr lang="en-US" sz="1000" dirty="0"/>
          </a:p>
        </p:txBody>
      </p:sp>
      <p:sp>
        <p:nvSpPr>
          <p:cNvPr id="12" name="Conector No"/>
          <p:cNvSpPr/>
          <p:nvPr/>
        </p:nvSpPr>
        <p:spPr>
          <a:xfrm>
            <a:off x="2240280" y="2514600"/>
            <a:ext cx="914400" cy="320040"/>
          </a:xfrm>
          <a:prstGeom prst="line">
            <a:avLst/>
          </a:prstGeom>
          <a:noFill/>
          <a:ln w="19050">
            <a:solidFill>
              <a:srgbClr val="56737A"/>
            </a:solidFill>
            <a:prstDash val="solid"/>
          </a:ln>
        </p:spPr>
        <p:txBody>
          <a:bodyPr/>
          <a:lstStyle/>
          <a:p>
            <a:endParaRPr lang="es-CO"/>
          </a:p>
        </p:txBody>
      </p:sp>
      <p:sp>
        <p:nvSpPr>
          <p:cNvPr id="13" name="Etiqueta No"/>
          <p:cNvSpPr/>
          <p:nvPr/>
        </p:nvSpPr>
        <p:spPr>
          <a:xfrm>
            <a:off x="2514600" y="2574036"/>
            <a:ext cx="365760" cy="201168"/>
          </a:xfrm>
          <a:prstGeom prst="roundRect">
            <a:avLst>
              <a:gd name="adj" fmla="val 22727"/>
            </a:avLst>
          </a:prstGeom>
          <a:solidFill>
            <a:schemeClr val="bg1"/>
          </a:solidFill>
          <a:ln w="12700">
            <a:solidFill>
              <a:schemeClr val="bg1"/>
            </a:solidFill>
            <a:prstDash val="solid"/>
          </a:ln>
        </p:spPr>
        <p:txBody>
          <a:bodyPr/>
          <a:lstStyle/>
          <a:p>
            <a:endParaRPr lang="es-CO"/>
          </a:p>
        </p:txBody>
      </p:sp>
      <p:sp>
        <p:nvSpPr>
          <p:cNvPr id="14" name="Text 12"/>
          <p:cNvSpPr txBox="1"/>
          <p:nvPr/>
        </p:nvSpPr>
        <p:spPr>
          <a:xfrm>
            <a:off x="2514600" y="2574036"/>
            <a:ext cx="365760" cy="201168"/>
          </a:xfrm>
          <a:prstGeom prst="rect">
            <a:avLst/>
          </a:prstGeom>
          <a:noFill/>
          <a:ln/>
        </p:spPr>
        <p:txBody>
          <a:bodyPr wrap="square" lIns="0" tIns="0" rIns="0" bIns="0" rtlCol="0" anchor="ctr"/>
          <a:lstStyle/>
          <a:p>
            <a:pPr marL="0" indent="0" algn="ctr">
              <a:buNone/>
            </a:pPr>
            <a:r>
              <a:rPr lang="en-US" sz="1000" b="1" dirty="0">
                <a:solidFill>
                  <a:schemeClr val="tx2"/>
                </a:solidFill>
              </a:rPr>
              <a:t>No</a:t>
            </a:r>
            <a:endParaRPr lang="en-US" sz="1000" dirty="0"/>
          </a:p>
        </p:txBody>
      </p:sp>
      <p:sp>
        <p:nvSpPr>
          <p:cNvPr id="15" name="Conector Sí"/>
          <p:cNvSpPr/>
          <p:nvPr/>
        </p:nvSpPr>
        <p:spPr>
          <a:xfrm flipH="1">
            <a:off x="5486400" y="2514600"/>
            <a:ext cx="1143000" cy="320040"/>
          </a:xfrm>
          <a:prstGeom prst="line">
            <a:avLst/>
          </a:prstGeom>
          <a:noFill/>
          <a:ln w="19050">
            <a:solidFill>
              <a:srgbClr val="56737A"/>
            </a:solidFill>
            <a:prstDash val="solid"/>
          </a:ln>
        </p:spPr>
        <p:txBody>
          <a:bodyPr/>
          <a:lstStyle/>
          <a:p>
            <a:endParaRPr lang="es-CO"/>
          </a:p>
        </p:txBody>
      </p:sp>
      <p:sp>
        <p:nvSpPr>
          <p:cNvPr id="16" name="Etiqueta Sí"/>
          <p:cNvSpPr/>
          <p:nvPr/>
        </p:nvSpPr>
        <p:spPr>
          <a:xfrm>
            <a:off x="5875020" y="2574036"/>
            <a:ext cx="365760" cy="201168"/>
          </a:xfrm>
          <a:prstGeom prst="roundRect">
            <a:avLst>
              <a:gd name="adj" fmla="val 22727"/>
            </a:avLst>
          </a:prstGeom>
          <a:solidFill>
            <a:schemeClr val="bg1"/>
          </a:solidFill>
          <a:ln w="12700">
            <a:solidFill>
              <a:schemeClr val="bg1"/>
            </a:solidFill>
            <a:prstDash val="solid"/>
          </a:ln>
        </p:spPr>
        <p:txBody>
          <a:bodyPr/>
          <a:lstStyle/>
          <a:p>
            <a:endParaRPr lang="es-CO"/>
          </a:p>
        </p:txBody>
      </p:sp>
      <p:sp>
        <p:nvSpPr>
          <p:cNvPr id="17" name="Text 15"/>
          <p:cNvSpPr txBox="1"/>
          <p:nvPr/>
        </p:nvSpPr>
        <p:spPr>
          <a:xfrm>
            <a:off x="5875020" y="2574036"/>
            <a:ext cx="365760" cy="201168"/>
          </a:xfrm>
          <a:prstGeom prst="rect">
            <a:avLst/>
          </a:prstGeom>
          <a:noFill/>
          <a:ln/>
        </p:spPr>
        <p:txBody>
          <a:bodyPr wrap="square" lIns="0" tIns="0" rIns="0" bIns="0" rtlCol="0" anchor="ctr"/>
          <a:lstStyle/>
          <a:p>
            <a:pPr marL="0" indent="0" algn="ctr">
              <a:buNone/>
            </a:pPr>
            <a:r>
              <a:rPr lang="en-US" sz="1000" b="1" dirty="0">
                <a:solidFill>
                  <a:schemeClr val="tx2"/>
                </a:solidFill>
              </a:rPr>
              <a:t>Sí</a:t>
            </a:r>
            <a:endParaRPr lang="en-US" sz="1000" dirty="0"/>
          </a:p>
        </p:txBody>
      </p:sp>
      <p:sp>
        <p:nvSpPr>
          <p:cNvPr id="18" name="Conector No"/>
          <p:cNvSpPr/>
          <p:nvPr/>
        </p:nvSpPr>
        <p:spPr>
          <a:xfrm>
            <a:off x="6629400" y="2514600"/>
            <a:ext cx="1143000" cy="320040"/>
          </a:xfrm>
          <a:prstGeom prst="line">
            <a:avLst/>
          </a:prstGeom>
          <a:noFill/>
          <a:ln w="19050">
            <a:solidFill>
              <a:srgbClr val="56737A"/>
            </a:solidFill>
            <a:prstDash val="solid"/>
          </a:ln>
        </p:spPr>
        <p:txBody>
          <a:bodyPr/>
          <a:lstStyle/>
          <a:p>
            <a:endParaRPr lang="es-CO"/>
          </a:p>
        </p:txBody>
      </p:sp>
      <p:sp>
        <p:nvSpPr>
          <p:cNvPr id="19" name="Etiqueta No"/>
          <p:cNvSpPr/>
          <p:nvPr/>
        </p:nvSpPr>
        <p:spPr>
          <a:xfrm>
            <a:off x="7018020" y="2574036"/>
            <a:ext cx="365760" cy="201168"/>
          </a:xfrm>
          <a:prstGeom prst="roundRect">
            <a:avLst>
              <a:gd name="adj" fmla="val 22727"/>
            </a:avLst>
          </a:prstGeom>
          <a:solidFill>
            <a:schemeClr val="bg1"/>
          </a:solidFill>
          <a:ln w="12700">
            <a:solidFill>
              <a:schemeClr val="bg1"/>
            </a:solidFill>
            <a:prstDash val="solid"/>
          </a:ln>
        </p:spPr>
        <p:txBody>
          <a:bodyPr/>
          <a:lstStyle/>
          <a:p>
            <a:endParaRPr lang="es-CO"/>
          </a:p>
        </p:txBody>
      </p:sp>
      <p:sp>
        <p:nvSpPr>
          <p:cNvPr id="20" name="Text 18"/>
          <p:cNvSpPr txBox="1"/>
          <p:nvPr/>
        </p:nvSpPr>
        <p:spPr>
          <a:xfrm>
            <a:off x="7018020" y="2574036"/>
            <a:ext cx="365760" cy="201168"/>
          </a:xfrm>
          <a:prstGeom prst="rect">
            <a:avLst/>
          </a:prstGeom>
          <a:noFill/>
          <a:ln/>
        </p:spPr>
        <p:txBody>
          <a:bodyPr wrap="square" lIns="0" tIns="0" rIns="0" bIns="0" rtlCol="0" anchor="ctr"/>
          <a:lstStyle/>
          <a:p>
            <a:pPr marL="0" indent="0" algn="ctr">
              <a:buNone/>
            </a:pPr>
            <a:r>
              <a:rPr lang="en-US" sz="1000" b="1" dirty="0">
                <a:solidFill>
                  <a:schemeClr val="tx2"/>
                </a:solidFill>
              </a:rPr>
              <a:t>No</a:t>
            </a:r>
            <a:endParaRPr lang="en-US" sz="1000" dirty="0"/>
          </a:p>
        </p:txBody>
      </p:sp>
      <p:sp>
        <p:nvSpPr>
          <p:cNvPr id="21" name="Conector Sí"/>
          <p:cNvSpPr/>
          <p:nvPr/>
        </p:nvSpPr>
        <p:spPr>
          <a:xfrm flipH="1">
            <a:off x="4526280" y="3429000"/>
            <a:ext cx="960120" cy="320040"/>
          </a:xfrm>
          <a:prstGeom prst="line">
            <a:avLst/>
          </a:prstGeom>
          <a:noFill/>
          <a:ln w="19050">
            <a:solidFill>
              <a:srgbClr val="56737A"/>
            </a:solidFill>
            <a:prstDash val="solid"/>
          </a:ln>
        </p:spPr>
        <p:txBody>
          <a:bodyPr/>
          <a:lstStyle/>
          <a:p>
            <a:endParaRPr lang="es-CO"/>
          </a:p>
        </p:txBody>
      </p:sp>
      <p:sp>
        <p:nvSpPr>
          <p:cNvPr id="22" name="Etiqueta Sí"/>
          <p:cNvSpPr/>
          <p:nvPr/>
        </p:nvSpPr>
        <p:spPr>
          <a:xfrm>
            <a:off x="4823460" y="3488436"/>
            <a:ext cx="365760" cy="201168"/>
          </a:xfrm>
          <a:prstGeom prst="roundRect">
            <a:avLst>
              <a:gd name="adj" fmla="val 22727"/>
            </a:avLst>
          </a:prstGeom>
          <a:solidFill>
            <a:schemeClr val="bg1"/>
          </a:solidFill>
          <a:ln w="12700">
            <a:solidFill>
              <a:schemeClr val="bg1"/>
            </a:solidFill>
            <a:prstDash val="solid"/>
          </a:ln>
        </p:spPr>
        <p:txBody>
          <a:bodyPr/>
          <a:lstStyle/>
          <a:p>
            <a:endParaRPr lang="es-CO"/>
          </a:p>
        </p:txBody>
      </p:sp>
      <p:sp>
        <p:nvSpPr>
          <p:cNvPr id="23" name="Text 21"/>
          <p:cNvSpPr txBox="1"/>
          <p:nvPr/>
        </p:nvSpPr>
        <p:spPr>
          <a:xfrm>
            <a:off x="4823460" y="3488436"/>
            <a:ext cx="365760" cy="201168"/>
          </a:xfrm>
          <a:prstGeom prst="rect">
            <a:avLst/>
          </a:prstGeom>
          <a:noFill/>
          <a:ln/>
        </p:spPr>
        <p:txBody>
          <a:bodyPr wrap="square" lIns="0" tIns="0" rIns="0" bIns="0" rtlCol="0" anchor="ctr"/>
          <a:lstStyle/>
          <a:p>
            <a:pPr marL="0" indent="0" algn="ctr">
              <a:buNone/>
            </a:pPr>
            <a:r>
              <a:rPr lang="en-US" sz="1000" b="1" dirty="0">
                <a:solidFill>
                  <a:schemeClr val="tx2"/>
                </a:solidFill>
              </a:rPr>
              <a:t>Sí</a:t>
            </a:r>
            <a:endParaRPr lang="en-US" sz="1000" dirty="0"/>
          </a:p>
        </p:txBody>
      </p:sp>
      <p:sp>
        <p:nvSpPr>
          <p:cNvPr id="24" name="Conector No"/>
          <p:cNvSpPr/>
          <p:nvPr/>
        </p:nvSpPr>
        <p:spPr>
          <a:xfrm>
            <a:off x="5486400" y="3429000"/>
            <a:ext cx="1051560" cy="320040"/>
          </a:xfrm>
          <a:prstGeom prst="line">
            <a:avLst/>
          </a:prstGeom>
          <a:noFill/>
          <a:ln w="19050">
            <a:solidFill>
              <a:srgbClr val="56737A"/>
            </a:solidFill>
            <a:prstDash val="solid"/>
          </a:ln>
        </p:spPr>
        <p:txBody>
          <a:bodyPr/>
          <a:lstStyle/>
          <a:p>
            <a:endParaRPr lang="es-CO"/>
          </a:p>
        </p:txBody>
      </p:sp>
      <p:sp>
        <p:nvSpPr>
          <p:cNvPr id="25" name="Etiqueta No"/>
          <p:cNvSpPr/>
          <p:nvPr/>
        </p:nvSpPr>
        <p:spPr>
          <a:xfrm>
            <a:off x="5829300" y="3488436"/>
            <a:ext cx="365760" cy="201168"/>
          </a:xfrm>
          <a:prstGeom prst="roundRect">
            <a:avLst>
              <a:gd name="adj" fmla="val 22727"/>
            </a:avLst>
          </a:prstGeom>
          <a:solidFill>
            <a:schemeClr val="bg1"/>
          </a:solidFill>
          <a:ln w="12700">
            <a:solidFill>
              <a:schemeClr val="bg1"/>
            </a:solidFill>
            <a:prstDash val="solid"/>
          </a:ln>
        </p:spPr>
        <p:txBody>
          <a:bodyPr/>
          <a:lstStyle/>
          <a:p>
            <a:endParaRPr lang="es-CO"/>
          </a:p>
        </p:txBody>
      </p:sp>
      <p:sp>
        <p:nvSpPr>
          <p:cNvPr id="26" name="Text 24"/>
          <p:cNvSpPr txBox="1"/>
          <p:nvPr/>
        </p:nvSpPr>
        <p:spPr>
          <a:xfrm>
            <a:off x="5829300" y="3488436"/>
            <a:ext cx="365760" cy="201168"/>
          </a:xfrm>
          <a:prstGeom prst="rect">
            <a:avLst/>
          </a:prstGeom>
          <a:noFill/>
          <a:ln/>
        </p:spPr>
        <p:txBody>
          <a:bodyPr wrap="square" lIns="0" tIns="0" rIns="0" bIns="0" rtlCol="0" anchor="ctr"/>
          <a:lstStyle/>
          <a:p>
            <a:pPr marL="0" indent="0" algn="ctr">
              <a:buNone/>
            </a:pPr>
            <a:r>
              <a:rPr lang="en-US" sz="1000" b="1" dirty="0">
                <a:solidFill>
                  <a:schemeClr val="tx2"/>
                </a:solidFill>
              </a:rPr>
              <a:t>No</a:t>
            </a:r>
            <a:endParaRPr lang="en-US" sz="1000" dirty="0"/>
          </a:p>
        </p:txBody>
      </p:sp>
      <p:sp>
        <p:nvSpPr>
          <p:cNvPr id="27" name="Nodo pasos"/>
          <p:cNvSpPr/>
          <p:nvPr/>
        </p:nvSpPr>
        <p:spPr>
          <a:xfrm>
            <a:off x="3474720" y="1234440"/>
            <a:ext cx="2194560" cy="457200"/>
          </a:xfrm>
          <a:prstGeom prst="roundRect">
            <a:avLst>
              <a:gd name="adj" fmla="val 24000"/>
            </a:avLst>
          </a:prstGeom>
          <a:solidFill>
            <a:schemeClr val="tx1"/>
          </a:solidFill>
          <a:ln w="12700">
            <a:solidFill>
              <a:schemeClr val="tx1"/>
            </a:solidFill>
            <a:prstDash val="solid"/>
          </a:ln>
        </p:spPr>
        <p:txBody>
          <a:bodyPr/>
          <a:lstStyle/>
          <a:p>
            <a:endParaRPr lang="es-CO"/>
          </a:p>
        </p:txBody>
      </p:sp>
      <p:sp>
        <p:nvSpPr>
          <p:cNvPr id="28" name="Text 26"/>
          <p:cNvSpPr txBox="1"/>
          <p:nvPr/>
        </p:nvSpPr>
        <p:spPr>
          <a:xfrm>
            <a:off x="3474720" y="1234440"/>
            <a:ext cx="2194560" cy="457200"/>
          </a:xfrm>
          <a:prstGeom prst="rect">
            <a:avLst/>
          </a:prstGeom>
          <a:noFill/>
          <a:ln/>
        </p:spPr>
        <p:txBody>
          <a:bodyPr wrap="square" lIns="508" tIns="508" rIns="508" bIns="508" rtlCol="0" anchor="ctr"/>
          <a:lstStyle/>
          <a:p>
            <a:pPr marL="0" indent="0" algn="ctr">
              <a:buNone/>
            </a:pPr>
            <a:r>
              <a:rPr lang="en-US" sz="1200" b="1" dirty="0">
                <a:solidFill>
                  <a:schemeClr val="bg1"/>
                </a:solidFill>
              </a:rPr>
              <a:t>¿Pasos totales ≤ 4.200?</a:t>
            </a:r>
            <a:endParaRPr lang="en-US" sz="1200" dirty="0"/>
          </a:p>
        </p:txBody>
      </p:sp>
      <p:sp>
        <p:nvSpPr>
          <p:cNvPr id="29" name="Nodo intensa"/>
          <p:cNvSpPr/>
          <p:nvPr/>
        </p:nvSpPr>
        <p:spPr>
          <a:xfrm>
            <a:off x="1051560" y="2011680"/>
            <a:ext cx="2377440" cy="502920"/>
          </a:xfrm>
          <a:prstGeom prst="roundRect">
            <a:avLst>
              <a:gd name="adj" fmla="val 21818"/>
            </a:avLst>
          </a:prstGeom>
          <a:solidFill>
            <a:schemeClr val="tx1"/>
          </a:solidFill>
          <a:ln w="12700">
            <a:solidFill>
              <a:schemeClr val="tx1"/>
            </a:solidFill>
            <a:prstDash val="solid"/>
          </a:ln>
        </p:spPr>
        <p:txBody>
          <a:bodyPr/>
          <a:lstStyle/>
          <a:p>
            <a:endParaRPr lang="es-CO"/>
          </a:p>
        </p:txBody>
      </p:sp>
      <p:sp>
        <p:nvSpPr>
          <p:cNvPr id="30" name="Text 28"/>
          <p:cNvSpPr txBox="1"/>
          <p:nvPr/>
        </p:nvSpPr>
        <p:spPr>
          <a:xfrm>
            <a:off x="1051560" y="2011680"/>
            <a:ext cx="2377440" cy="502920"/>
          </a:xfrm>
          <a:prstGeom prst="rect">
            <a:avLst/>
          </a:prstGeom>
          <a:noFill/>
          <a:ln/>
        </p:spPr>
        <p:txBody>
          <a:bodyPr wrap="square" lIns="508" tIns="508" rIns="508" bIns="508" rtlCol="0" anchor="ctr"/>
          <a:lstStyle/>
          <a:p>
            <a:pPr marL="0" indent="0" algn="ctr">
              <a:buNone/>
            </a:pPr>
            <a:r>
              <a:rPr lang="en-US" sz="1200" b="1" dirty="0">
                <a:solidFill>
                  <a:schemeClr val="bg1"/>
                </a:solidFill>
              </a:rPr>
              <a:t>¿Actividad intensa ≤ 5 min?</a:t>
            </a:r>
            <a:endParaRPr lang="en-US" sz="1200" dirty="0"/>
          </a:p>
        </p:txBody>
      </p:sp>
      <p:sp>
        <p:nvSpPr>
          <p:cNvPr id="31" name="Nodo calorías"/>
          <p:cNvSpPr/>
          <p:nvPr/>
        </p:nvSpPr>
        <p:spPr>
          <a:xfrm>
            <a:off x="5440680" y="2011680"/>
            <a:ext cx="2377440" cy="502920"/>
          </a:xfrm>
          <a:prstGeom prst="roundRect">
            <a:avLst>
              <a:gd name="adj" fmla="val 21818"/>
            </a:avLst>
          </a:prstGeom>
          <a:solidFill>
            <a:schemeClr val="tx1"/>
          </a:solidFill>
          <a:ln w="12700">
            <a:solidFill>
              <a:schemeClr val="tx1"/>
            </a:solidFill>
            <a:prstDash val="solid"/>
          </a:ln>
        </p:spPr>
        <p:txBody>
          <a:bodyPr/>
          <a:lstStyle/>
          <a:p>
            <a:endParaRPr lang="es-CO"/>
          </a:p>
        </p:txBody>
      </p:sp>
      <p:sp>
        <p:nvSpPr>
          <p:cNvPr id="32" name="Text 30"/>
          <p:cNvSpPr txBox="1"/>
          <p:nvPr/>
        </p:nvSpPr>
        <p:spPr>
          <a:xfrm>
            <a:off x="5440680" y="2011680"/>
            <a:ext cx="2377440" cy="502920"/>
          </a:xfrm>
          <a:prstGeom prst="rect">
            <a:avLst/>
          </a:prstGeom>
          <a:noFill/>
          <a:ln/>
        </p:spPr>
        <p:txBody>
          <a:bodyPr wrap="square" lIns="508" tIns="508" rIns="508" bIns="508" rtlCol="0" anchor="ctr"/>
          <a:lstStyle/>
          <a:p>
            <a:pPr marL="0" indent="0" algn="ctr">
              <a:buNone/>
            </a:pPr>
            <a:r>
              <a:rPr lang="en-US" sz="1200" b="1" dirty="0">
                <a:solidFill>
                  <a:schemeClr val="bg1"/>
                </a:solidFill>
              </a:rPr>
              <a:t>¿Calorías ≤ 2.100?</a:t>
            </a:r>
            <a:endParaRPr lang="en-US" sz="1200" dirty="0"/>
          </a:p>
        </p:txBody>
      </p:sp>
      <p:sp>
        <p:nvSpPr>
          <p:cNvPr id="33" name="Hoja alto riesgo"/>
          <p:cNvSpPr/>
          <p:nvPr/>
        </p:nvSpPr>
        <p:spPr>
          <a:xfrm>
            <a:off x="502920" y="2834640"/>
            <a:ext cx="1645920" cy="594360"/>
          </a:xfrm>
          <a:prstGeom prst="roundRect">
            <a:avLst>
              <a:gd name="adj" fmla="val 18462"/>
            </a:avLst>
          </a:prstGeom>
          <a:solidFill>
            <a:schemeClr val="accent1"/>
          </a:solidFill>
          <a:ln w="12700">
            <a:solidFill>
              <a:schemeClr val="accent1"/>
            </a:solidFill>
            <a:prstDash val="solid"/>
          </a:ln>
        </p:spPr>
        <p:txBody>
          <a:bodyPr/>
          <a:lstStyle/>
          <a:p>
            <a:endParaRPr lang="es-CO"/>
          </a:p>
        </p:txBody>
      </p:sp>
      <p:sp>
        <p:nvSpPr>
          <p:cNvPr id="34" name="Text 32"/>
          <p:cNvSpPr txBox="1"/>
          <p:nvPr/>
        </p:nvSpPr>
        <p:spPr>
          <a:xfrm>
            <a:off x="502920" y="2834640"/>
            <a:ext cx="1645920" cy="594360"/>
          </a:xfrm>
          <a:prstGeom prst="rect">
            <a:avLst/>
          </a:prstGeom>
          <a:noFill/>
          <a:ln/>
        </p:spPr>
        <p:txBody>
          <a:bodyPr wrap="square" lIns="508" tIns="508" rIns="508" bIns="508" rtlCol="0" anchor="ctr"/>
          <a:lstStyle/>
          <a:p>
            <a:pPr marL="0" indent="0" algn="ctr">
              <a:buNone/>
            </a:pPr>
            <a:r>
              <a:rPr lang="en-US" sz="1200" b="1" dirty="0">
                <a:solidFill>
                  <a:schemeClr val="tx1"/>
                </a:solidFill>
              </a:rPr>
              <a:t>Sedentarismo de alto riesgo</a:t>
            </a:r>
            <a:endParaRPr lang="en-US" sz="1200" dirty="0"/>
          </a:p>
        </p:txBody>
      </p:sp>
      <p:sp>
        <p:nvSpPr>
          <p:cNvPr id="35" name="Hoja activa"/>
          <p:cNvSpPr/>
          <p:nvPr/>
        </p:nvSpPr>
        <p:spPr>
          <a:xfrm>
            <a:off x="2331720" y="2834640"/>
            <a:ext cx="1645920" cy="594360"/>
          </a:xfrm>
          <a:prstGeom prst="roundRect">
            <a:avLst>
              <a:gd name="adj" fmla="val 18462"/>
            </a:avLst>
          </a:prstGeom>
          <a:solidFill>
            <a:schemeClr val="accent2"/>
          </a:solidFill>
          <a:ln w="12700">
            <a:solidFill>
              <a:schemeClr val="accent2"/>
            </a:solidFill>
            <a:prstDash val="solid"/>
          </a:ln>
        </p:spPr>
        <p:txBody>
          <a:bodyPr/>
          <a:lstStyle/>
          <a:p>
            <a:endParaRPr lang="es-CO"/>
          </a:p>
        </p:txBody>
      </p:sp>
      <p:sp>
        <p:nvSpPr>
          <p:cNvPr id="36" name="Text 34"/>
          <p:cNvSpPr txBox="1"/>
          <p:nvPr/>
        </p:nvSpPr>
        <p:spPr>
          <a:xfrm>
            <a:off x="2331720" y="2834640"/>
            <a:ext cx="1645920" cy="594360"/>
          </a:xfrm>
          <a:prstGeom prst="rect">
            <a:avLst/>
          </a:prstGeom>
          <a:noFill/>
          <a:ln/>
        </p:spPr>
        <p:txBody>
          <a:bodyPr wrap="square" lIns="508" tIns="508" rIns="508" bIns="508" rtlCol="0" anchor="ctr"/>
          <a:lstStyle/>
          <a:p>
            <a:pPr marL="0" indent="0" algn="ctr">
              <a:buNone/>
            </a:pPr>
            <a:r>
              <a:rPr lang="en-US" sz="1200" b="1" dirty="0">
                <a:solidFill>
                  <a:schemeClr val="tx1"/>
                </a:solidFill>
              </a:rPr>
              <a:t>Persona activa sin riesgo</a:t>
            </a:r>
            <a:endParaRPr lang="en-US" sz="1200" dirty="0"/>
          </a:p>
        </p:txBody>
      </p:sp>
      <p:sp>
        <p:nvSpPr>
          <p:cNvPr id="37" name="Nodo sueño"/>
          <p:cNvSpPr/>
          <p:nvPr/>
        </p:nvSpPr>
        <p:spPr>
          <a:xfrm>
            <a:off x="4617720" y="2834640"/>
            <a:ext cx="1737360" cy="594360"/>
          </a:xfrm>
          <a:prstGeom prst="roundRect">
            <a:avLst>
              <a:gd name="adj" fmla="val 18462"/>
            </a:avLst>
          </a:prstGeom>
          <a:solidFill>
            <a:schemeClr val="tx2"/>
          </a:solidFill>
          <a:ln w="12700">
            <a:solidFill>
              <a:schemeClr val="tx2"/>
            </a:solidFill>
            <a:prstDash val="solid"/>
          </a:ln>
        </p:spPr>
        <p:txBody>
          <a:bodyPr/>
          <a:lstStyle/>
          <a:p>
            <a:endParaRPr lang="es-CO"/>
          </a:p>
        </p:txBody>
      </p:sp>
      <p:sp>
        <p:nvSpPr>
          <p:cNvPr id="38" name="Text 36"/>
          <p:cNvSpPr txBox="1"/>
          <p:nvPr/>
        </p:nvSpPr>
        <p:spPr>
          <a:xfrm>
            <a:off x="4617720" y="2834640"/>
            <a:ext cx="1737360" cy="594360"/>
          </a:xfrm>
          <a:prstGeom prst="rect">
            <a:avLst/>
          </a:prstGeom>
          <a:noFill/>
          <a:ln/>
        </p:spPr>
        <p:txBody>
          <a:bodyPr wrap="square" lIns="508" tIns="508" rIns="508" bIns="508" rtlCol="0" anchor="ctr"/>
          <a:lstStyle/>
          <a:p>
            <a:pPr marL="0" indent="0" algn="ctr">
              <a:buNone/>
            </a:pPr>
            <a:r>
              <a:rPr lang="en-US" sz="1200" b="1" dirty="0">
                <a:solidFill>
                  <a:schemeClr val="bg1"/>
                </a:solidFill>
              </a:rPr>
              <a:t>Riesgo moderado</a:t>
            </a:r>
            <a:endParaRPr lang="en-US" sz="1200" dirty="0"/>
          </a:p>
          <a:p>
            <a:pPr marL="0" indent="0" algn="ctr">
              <a:buNone/>
            </a:pPr>
            <a:r>
              <a:rPr lang="en-US" sz="1200" b="1" dirty="0">
                <a:solidFill>
                  <a:schemeClr val="bg1"/>
                </a:solidFill>
              </a:rPr>
              <a:t>¿Sueño ≤ 6 h?</a:t>
            </a:r>
            <a:endParaRPr lang="en-US" sz="1200" dirty="0"/>
          </a:p>
        </p:txBody>
      </p:sp>
      <p:sp>
        <p:nvSpPr>
          <p:cNvPr id="39" name="Hoja estable"/>
          <p:cNvSpPr/>
          <p:nvPr/>
        </p:nvSpPr>
        <p:spPr>
          <a:xfrm>
            <a:off x="6949440" y="2834640"/>
            <a:ext cx="1645920" cy="594360"/>
          </a:xfrm>
          <a:prstGeom prst="roundRect">
            <a:avLst>
              <a:gd name="adj" fmla="val 18462"/>
            </a:avLst>
          </a:prstGeom>
          <a:solidFill>
            <a:schemeClr val="accent2"/>
          </a:solidFill>
          <a:ln w="12700">
            <a:solidFill>
              <a:schemeClr val="accent2"/>
            </a:solidFill>
            <a:prstDash val="solid"/>
          </a:ln>
        </p:spPr>
        <p:txBody>
          <a:bodyPr/>
          <a:lstStyle/>
          <a:p>
            <a:endParaRPr lang="es-CO"/>
          </a:p>
        </p:txBody>
      </p:sp>
      <p:sp>
        <p:nvSpPr>
          <p:cNvPr id="40" name="Text 38"/>
          <p:cNvSpPr txBox="1"/>
          <p:nvPr/>
        </p:nvSpPr>
        <p:spPr>
          <a:xfrm>
            <a:off x="6949440" y="2834640"/>
            <a:ext cx="1645920" cy="594360"/>
          </a:xfrm>
          <a:prstGeom prst="rect">
            <a:avLst/>
          </a:prstGeom>
          <a:noFill/>
          <a:ln/>
        </p:spPr>
        <p:txBody>
          <a:bodyPr wrap="square" lIns="508" tIns="508" rIns="508" bIns="508" rtlCol="0" anchor="ctr"/>
          <a:lstStyle/>
          <a:p>
            <a:pPr marL="0" indent="0" algn="ctr">
              <a:buNone/>
            </a:pPr>
            <a:r>
              <a:rPr lang="en-US" sz="1200" b="1" dirty="0">
                <a:solidFill>
                  <a:schemeClr val="tx1"/>
                </a:solidFill>
              </a:rPr>
              <a:t>Paciente estable</a:t>
            </a:r>
            <a:endParaRPr lang="en-US" sz="1200" dirty="0"/>
          </a:p>
        </p:txBody>
      </p:sp>
      <p:sp>
        <p:nvSpPr>
          <p:cNvPr id="41" name="Hoja sueño insuf"/>
          <p:cNvSpPr/>
          <p:nvPr/>
        </p:nvSpPr>
        <p:spPr>
          <a:xfrm>
            <a:off x="3680460" y="3749040"/>
            <a:ext cx="1691640" cy="594360"/>
          </a:xfrm>
          <a:prstGeom prst="roundRect">
            <a:avLst>
              <a:gd name="adj" fmla="val 18462"/>
            </a:avLst>
          </a:prstGeom>
          <a:solidFill>
            <a:schemeClr val="accent3"/>
          </a:solidFill>
          <a:ln w="12700">
            <a:solidFill>
              <a:schemeClr val="accent3"/>
            </a:solidFill>
            <a:prstDash val="solid"/>
          </a:ln>
        </p:spPr>
        <p:txBody>
          <a:bodyPr/>
          <a:lstStyle/>
          <a:p>
            <a:endParaRPr lang="es-CO"/>
          </a:p>
        </p:txBody>
      </p:sp>
      <p:sp>
        <p:nvSpPr>
          <p:cNvPr id="42" name="Text 40"/>
          <p:cNvSpPr txBox="1"/>
          <p:nvPr/>
        </p:nvSpPr>
        <p:spPr>
          <a:xfrm>
            <a:off x="3680460" y="3749040"/>
            <a:ext cx="1691640" cy="594360"/>
          </a:xfrm>
          <a:prstGeom prst="rect">
            <a:avLst/>
          </a:prstGeom>
          <a:noFill/>
          <a:ln/>
        </p:spPr>
        <p:txBody>
          <a:bodyPr wrap="square" lIns="508" tIns="508" rIns="508" bIns="508" rtlCol="0" anchor="ctr"/>
          <a:lstStyle/>
          <a:p>
            <a:pPr marL="0" indent="0" algn="ctr">
              <a:buNone/>
            </a:pPr>
            <a:r>
              <a:rPr lang="en-US" sz="1200" b="1" dirty="0">
                <a:solidFill>
                  <a:schemeClr val="tx1"/>
                </a:solidFill>
              </a:rPr>
              <a:t>Riesgo de sueño insuficiente</a:t>
            </a:r>
            <a:endParaRPr lang="en-US" sz="1200" dirty="0"/>
          </a:p>
        </p:txBody>
      </p:sp>
      <p:sp>
        <p:nvSpPr>
          <p:cNvPr id="43" name="Hoja moderado"/>
          <p:cNvSpPr/>
          <p:nvPr/>
        </p:nvSpPr>
        <p:spPr>
          <a:xfrm>
            <a:off x="5692140" y="3749040"/>
            <a:ext cx="1691640" cy="594360"/>
          </a:xfrm>
          <a:prstGeom prst="roundRect">
            <a:avLst>
              <a:gd name="adj" fmla="val 18462"/>
            </a:avLst>
          </a:prstGeom>
          <a:solidFill>
            <a:schemeClr val="accent3"/>
          </a:solidFill>
          <a:ln w="12700">
            <a:solidFill>
              <a:schemeClr val="accent3"/>
            </a:solidFill>
            <a:prstDash val="solid"/>
          </a:ln>
        </p:spPr>
        <p:txBody>
          <a:bodyPr/>
          <a:lstStyle/>
          <a:p>
            <a:endParaRPr lang="es-CO"/>
          </a:p>
        </p:txBody>
      </p:sp>
      <p:sp>
        <p:nvSpPr>
          <p:cNvPr id="44" name="Text 42"/>
          <p:cNvSpPr txBox="1"/>
          <p:nvPr/>
        </p:nvSpPr>
        <p:spPr>
          <a:xfrm>
            <a:off x="5692140" y="3749040"/>
            <a:ext cx="1691640" cy="594360"/>
          </a:xfrm>
          <a:prstGeom prst="rect">
            <a:avLst/>
          </a:prstGeom>
          <a:noFill/>
          <a:ln/>
        </p:spPr>
        <p:txBody>
          <a:bodyPr wrap="square" lIns="508" tIns="508" rIns="508" bIns="508" rtlCol="0" anchor="ctr"/>
          <a:lstStyle/>
          <a:p>
            <a:pPr marL="0" indent="0" algn="ctr">
              <a:buNone/>
            </a:pPr>
            <a:r>
              <a:rPr lang="en-US" sz="1200" b="1" dirty="0">
                <a:solidFill>
                  <a:schemeClr val="tx1"/>
                </a:solidFill>
              </a:rPr>
              <a:t>Riesgo moderado</a:t>
            </a:r>
            <a:endParaRPr lang="en-US" sz="1200" dirty="0"/>
          </a:p>
        </p:txBody>
      </p:sp>
      <p:sp>
        <p:nvSpPr>
          <p:cNvPr id="45" name="Text 43"/>
          <p:cNvSpPr txBox="1"/>
          <p:nvPr/>
        </p:nvSpPr>
        <p:spPr>
          <a:xfrm>
            <a:off x="548640" y="4526280"/>
            <a:ext cx="8046720" cy="228600"/>
          </a:xfrm>
          <a:prstGeom prst="rect">
            <a:avLst/>
          </a:prstGeom>
          <a:noFill/>
          <a:ln/>
        </p:spPr>
        <p:txBody>
          <a:bodyPr wrap="square" lIns="0" tIns="0" rIns="0" bIns="0" rtlCol="0" anchor="t"/>
          <a:lstStyle/>
          <a:p>
            <a:pPr marL="0" indent="0">
              <a:buNone/>
            </a:pPr>
            <a:r>
              <a:rPr lang="en-US" sz="1200" dirty="0">
                <a:solidFill>
                  <a:schemeClr val="accent5"/>
                </a:solidFill>
              </a:rPr>
              <a:t>Umbrales estáticos: fáciles de auditar, pero no capturan la variabilidad de cada persona</a:t>
            </a:r>
            <a:endParaRPr lang="en-US" sz="1200" dirty="0"/>
          </a:p>
        </p:txBody>
      </p:sp>
      <p:sp>
        <p:nvSpPr>
          <p:cNvPr id="46"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77240"/>
          </a:xfrm>
          <a:prstGeom prst="rect">
            <a:avLst/>
          </a:prstGeom>
          <a:noFill/>
          <a:ln/>
        </p:spPr>
        <p:txBody>
          <a:bodyPr wrap="square" lIns="0" tIns="0" rIns="0" bIns="0" rtlCol="0" anchor="ctr"/>
          <a:lstStyle/>
          <a:p>
            <a:pPr marL="0" indent="0" algn="l">
              <a:buNone/>
            </a:pPr>
            <a:r>
              <a:rPr lang="en-US" sz="3600" b="1" dirty="0">
                <a:solidFill>
                  <a:schemeClr val="bg1"/>
                </a:solidFill>
              </a:rPr>
              <a:t>Siguiente paso: modelar</a:t>
            </a:r>
            <a:endParaRPr lang="en-US" sz="3600" dirty="0"/>
          </a:p>
        </p:txBody>
      </p:sp>
      <p:sp>
        <p:nvSpPr>
          <p:cNvPr id="3" name="Badge paso 1 círculo"/>
          <p:cNvSpPr/>
          <p:nvPr/>
        </p:nvSpPr>
        <p:spPr>
          <a:xfrm>
            <a:off x="548640" y="1417320"/>
            <a:ext cx="640080" cy="640080"/>
          </a:xfrm>
          <a:prstGeom prst="ellipse">
            <a:avLst/>
          </a:prstGeom>
          <a:solidFill>
            <a:srgbClr val="FF6B5B"/>
          </a:solidFill>
          <a:ln w="12700">
            <a:solidFill>
              <a:srgbClr val="FF6B5B"/>
            </a:solidFill>
            <a:prstDash val="solid"/>
          </a:ln>
        </p:spPr>
        <p:txBody>
          <a:bodyPr/>
          <a:lstStyle/>
          <a:p>
            <a:endParaRPr lang="es-CO"/>
          </a:p>
        </p:txBody>
      </p:sp>
      <p:pic>
        <p:nvPicPr>
          <p:cNvPr id="4" name="Badge paso 1 icono" descr="Badge paso 1"/>
          <p:cNvPicPr>
            <a:picLocks noChangeAspect="1"/>
          </p:cNvPicPr>
          <p:nvPr/>
        </p:nvPicPr>
        <p:blipFill>
          <a:blip r:embed="rId3"/>
          <a:stretch>
            <a:fillRect/>
          </a:stretch>
        </p:blipFill>
        <p:spPr>
          <a:xfrm>
            <a:off x="695858" y="1564538"/>
            <a:ext cx="345643" cy="345643"/>
          </a:xfrm>
          <a:prstGeom prst="rect">
            <a:avLst/>
          </a:prstGeom>
        </p:spPr>
      </p:pic>
      <p:sp>
        <p:nvSpPr>
          <p:cNvPr id="5" name="Text 2"/>
          <p:cNvSpPr txBox="1"/>
          <p:nvPr/>
        </p:nvSpPr>
        <p:spPr>
          <a:xfrm>
            <a:off x="1417320" y="1325880"/>
            <a:ext cx="4114800" cy="365760"/>
          </a:xfrm>
          <a:prstGeom prst="rect">
            <a:avLst/>
          </a:prstGeom>
          <a:noFill/>
          <a:ln/>
        </p:spPr>
        <p:txBody>
          <a:bodyPr wrap="square" lIns="0" tIns="0" rIns="0" bIns="0" rtlCol="0" anchor="t"/>
          <a:lstStyle/>
          <a:p>
            <a:pPr marL="0" indent="0">
              <a:buNone/>
            </a:pPr>
            <a:r>
              <a:rPr lang="en-US" sz="1800" b="1" dirty="0">
                <a:solidFill>
                  <a:schemeClr val="bg1"/>
                </a:solidFill>
              </a:rPr>
              <a:t>Corregir la escala de distancias</a:t>
            </a:r>
            <a:endParaRPr lang="en-US" sz="1800" dirty="0"/>
          </a:p>
        </p:txBody>
      </p:sp>
      <p:sp>
        <p:nvSpPr>
          <p:cNvPr id="6" name="Text 3"/>
          <p:cNvSpPr txBox="1"/>
          <p:nvPr/>
        </p:nvSpPr>
        <p:spPr>
          <a:xfrm>
            <a:off x="1417320" y="1709928"/>
            <a:ext cx="4114800" cy="548640"/>
          </a:xfrm>
          <a:prstGeom prst="rect">
            <a:avLst/>
          </a:prstGeom>
          <a:noFill/>
          <a:ln/>
        </p:spPr>
        <p:txBody>
          <a:bodyPr wrap="square" lIns="0" tIns="0" rIns="0" bIns="0" rtlCol="0" anchor="t"/>
          <a:lstStyle/>
          <a:p>
            <a:pPr marL="0" indent="0">
              <a:buNone/>
            </a:pPr>
            <a:r>
              <a:rPr lang="en-US" sz="1400" dirty="0">
                <a:solidFill>
                  <a:schemeClr val="accent4"/>
                </a:solidFill>
              </a:rPr>
              <a:t>Magnitudes ≈10¹⁴: error de parseo decimal en la fuente</a:t>
            </a:r>
            <a:endParaRPr lang="en-US" sz="1400" dirty="0"/>
          </a:p>
        </p:txBody>
      </p:sp>
      <p:sp>
        <p:nvSpPr>
          <p:cNvPr id="7" name="Badge paso 2 círculo"/>
          <p:cNvSpPr/>
          <p:nvPr/>
        </p:nvSpPr>
        <p:spPr>
          <a:xfrm>
            <a:off x="548640" y="2514600"/>
            <a:ext cx="640080" cy="640080"/>
          </a:xfrm>
          <a:prstGeom prst="ellipse">
            <a:avLst/>
          </a:prstGeom>
          <a:solidFill>
            <a:srgbClr val="FF6B5B"/>
          </a:solidFill>
          <a:ln w="12700">
            <a:solidFill>
              <a:srgbClr val="FF6B5B"/>
            </a:solidFill>
            <a:prstDash val="solid"/>
          </a:ln>
        </p:spPr>
        <p:txBody>
          <a:bodyPr/>
          <a:lstStyle/>
          <a:p>
            <a:endParaRPr lang="es-CO"/>
          </a:p>
        </p:txBody>
      </p:sp>
      <p:pic>
        <p:nvPicPr>
          <p:cNvPr id="8" name="Badge paso 2 icono" descr="Badge paso 2"/>
          <p:cNvPicPr>
            <a:picLocks noChangeAspect="1"/>
          </p:cNvPicPr>
          <p:nvPr/>
        </p:nvPicPr>
        <p:blipFill>
          <a:blip r:embed="rId4"/>
          <a:stretch>
            <a:fillRect/>
          </a:stretch>
        </p:blipFill>
        <p:spPr>
          <a:xfrm>
            <a:off x="695858" y="2661818"/>
            <a:ext cx="345643" cy="345643"/>
          </a:xfrm>
          <a:prstGeom prst="rect">
            <a:avLst/>
          </a:prstGeom>
        </p:spPr>
      </p:pic>
      <p:sp>
        <p:nvSpPr>
          <p:cNvPr id="9" name="Text 5"/>
          <p:cNvSpPr txBox="1"/>
          <p:nvPr/>
        </p:nvSpPr>
        <p:spPr>
          <a:xfrm>
            <a:off x="1417320" y="2423160"/>
            <a:ext cx="4114800" cy="365760"/>
          </a:xfrm>
          <a:prstGeom prst="rect">
            <a:avLst/>
          </a:prstGeom>
          <a:noFill/>
          <a:ln/>
        </p:spPr>
        <p:txBody>
          <a:bodyPr wrap="square" lIns="0" tIns="0" rIns="0" bIns="0" rtlCol="0" anchor="t"/>
          <a:lstStyle/>
          <a:p>
            <a:pPr marL="0" indent="0">
              <a:buNone/>
            </a:pPr>
            <a:r>
              <a:rPr lang="en-US" sz="1800" b="1" dirty="0">
                <a:solidFill>
                  <a:schemeClr val="bg1"/>
                </a:solidFill>
              </a:rPr>
              <a:t>Resolver el sueño faltante</a:t>
            </a:r>
            <a:endParaRPr lang="en-US" sz="1800" dirty="0"/>
          </a:p>
        </p:txBody>
      </p:sp>
      <p:sp>
        <p:nvSpPr>
          <p:cNvPr id="10" name="Text 6"/>
          <p:cNvSpPr txBox="1"/>
          <p:nvPr/>
        </p:nvSpPr>
        <p:spPr>
          <a:xfrm>
            <a:off x="1417320" y="2807208"/>
            <a:ext cx="4114800" cy="548640"/>
          </a:xfrm>
          <a:prstGeom prst="rect">
            <a:avLst/>
          </a:prstGeom>
          <a:noFill/>
          <a:ln/>
        </p:spPr>
        <p:txBody>
          <a:bodyPr wrap="square" lIns="0" tIns="0" rIns="0" bIns="0" rtlCol="0" anchor="t"/>
          <a:lstStyle/>
          <a:p>
            <a:pPr marL="0" indent="0">
              <a:buNone/>
            </a:pPr>
            <a:r>
              <a:rPr lang="en-US" sz="1400" dirty="0">
                <a:solidFill>
                  <a:schemeClr val="accent4"/>
                </a:solidFill>
              </a:rPr>
              <a:t>69,7 % sin registro: imputar por usuario o marcar la ausencia</a:t>
            </a:r>
            <a:endParaRPr lang="en-US" sz="1400" dirty="0"/>
          </a:p>
        </p:txBody>
      </p:sp>
      <p:sp>
        <p:nvSpPr>
          <p:cNvPr id="11" name="Badge paso 3 círculo"/>
          <p:cNvSpPr/>
          <p:nvPr/>
        </p:nvSpPr>
        <p:spPr>
          <a:xfrm>
            <a:off x="548640" y="3611880"/>
            <a:ext cx="640080" cy="640080"/>
          </a:xfrm>
          <a:prstGeom prst="ellipse">
            <a:avLst/>
          </a:prstGeom>
          <a:solidFill>
            <a:srgbClr val="FF6B5B"/>
          </a:solidFill>
          <a:ln w="12700">
            <a:solidFill>
              <a:srgbClr val="FF6B5B"/>
            </a:solidFill>
            <a:prstDash val="solid"/>
          </a:ln>
        </p:spPr>
        <p:txBody>
          <a:bodyPr/>
          <a:lstStyle/>
          <a:p>
            <a:endParaRPr lang="es-CO"/>
          </a:p>
        </p:txBody>
      </p:sp>
      <p:pic>
        <p:nvPicPr>
          <p:cNvPr id="12" name="Badge paso 3 icono" descr="Badge paso 3"/>
          <p:cNvPicPr>
            <a:picLocks noChangeAspect="1"/>
          </p:cNvPicPr>
          <p:nvPr/>
        </p:nvPicPr>
        <p:blipFill>
          <a:blip r:embed="rId5"/>
          <a:stretch>
            <a:fillRect/>
          </a:stretch>
        </p:blipFill>
        <p:spPr>
          <a:xfrm>
            <a:off x="695858" y="3759098"/>
            <a:ext cx="345643" cy="345643"/>
          </a:xfrm>
          <a:prstGeom prst="rect">
            <a:avLst/>
          </a:prstGeom>
        </p:spPr>
      </p:pic>
      <p:sp>
        <p:nvSpPr>
          <p:cNvPr id="13" name="Text 8"/>
          <p:cNvSpPr txBox="1"/>
          <p:nvPr/>
        </p:nvSpPr>
        <p:spPr>
          <a:xfrm>
            <a:off x="1417320" y="3520440"/>
            <a:ext cx="4114800" cy="365760"/>
          </a:xfrm>
          <a:prstGeom prst="rect">
            <a:avLst/>
          </a:prstGeom>
          <a:noFill/>
          <a:ln/>
        </p:spPr>
        <p:txBody>
          <a:bodyPr wrap="square" lIns="0" tIns="0" rIns="0" bIns="0" rtlCol="0" anchor="t"/>
          <a:lstStyle/>
          <a:p>
            <a:pPr marL="0" indent="0">
              <a:buNone/>
            </a:pPr>
            <a:r>
              <a:rPr lang="en-US" sz="1800" b="1" dirty="0">
                <a:solidFill>
                  <a:schemeClr val="bg1"/>
                </a:solidFill>
              </a:rPr>
              <a:t>Entrenar y validar el árbol</a:t>
            </a:r>
            <a:endParaRPr lang="en-US" sz="1800" dirty="0"/>
          </a:p>
        </p:txBody>
      </p:sp>
      <p:sp>
        <p:nvSpPr>
          <p:cNvPr id="14" name="Text 9"/>
          <p:cNvSpPr txBox="1"/>
          <p:nvPr/>
        </p:nvSpPr>
        <p:spPr>
          <a:xfrm>
            <a:off x="1417320" y="3904488"/>
            <a:ext cx="4114800" cy="548640"/>
          </a:xfrm>
          <a:prstGeom prst="rect">
            <a:avLst/>
          </a:prstGeom>
          <a:noFill/>
          <a:ln/>
        </p:spPr>
        <p:txBody>
          <a:bodyPr wrap="square" lIns="0" tIns="0" rIns="0" bIns="0" rtlCol="0" anchor="t"/>
          <a:lstStyle/>
          <a:p>
            <a:pPr marL="0" indent="0">
              <a:buNone/>
            </a:pPr>
            <a:r>
              <a:rPr lang="en-US" sz="1400" dirty="0">
                <a:solidFill>
                  <a:schemeClr val="accent4"/>
                </a:solidFill>
              </a:rPr>
              <a:t>Sumar frecuencia cardiaca en reposo, edad y nivel de estrés</a:t>
            </a:r>
            <a:endParaRPr lang="en-US" sz="1400" dirty="0"/>
          </a:p>
        </p:txBody>
      </p:sp>
      <p:sp>
        <p:nvSpPr>
          <p:cNvPr id="15" name="Tarjeta lo que tenemos"/>
          <p:cNvSpPr/>
          <p:nvPr/>
        </p:nvSpPr>
        <p:spPr>
          <a:xfrm>
            <a:off x="5852160" y="1325880"/>
            <a:ext cx="2743200" cy="3200400"/>
          </a:xfrm>
          <a:prstGeom prst="roundRect">
            <a:avLst>
              <a:gd name="adj" fmla="val 4000"/>
            </a:avLst>
          </a:prstGeom>
          <a:solidFill>
            <a:schemeClr val="tx2"/>
          </a:solidFill>
          <a:ln w="12700">
            <a:solidFill>
              <a:schemeClr val="tx2"/>
            </a:solidFill>
            <a:prstDash val="solid"/>
          </a:ln>
        </p:spPr>
        <p:txBody>
          <a:bodyPr/>
          <a:lstStyle/>
          <a:p>
            <a:endParaRPr lang="es-CO"/>
          </a:p>
        </p:txBody>
      </p:sp>
      <p:sp>
        <p:nvSpPr>
          <p:cNvPr id="16" name="Text 11"/>
          <p:cNvSpPr txBox="1"/>
          <p:nvPr/>
        </p:nvSpPr>
        <p:spPr>
          <a:xfrm>
            <a:off x="6080760" y="1463040"/>
            <a:ext cx="2286000" cy="365760"/>
          </a:xfrm>
          <a:prstGeom prst="rect">
            <a:avLst/>
          </a:prstGeom>
          <a:noFill/>
          <a:ln/>
        </p:spPr>
        <p:txBody>
          <a:bodyPr wrap="square" lIns="0" tIns="0" rIns="0" bIns="0" rtlCol="0" anchor="t"/>
          <a:lstStyle/>
          <a:p>
            <a:pPr marL="0" indent="0">
              <a:buNone/>
            </a:pPr>
            <a:r>
              <a:rPr lang="en-US" sz="1600" b="1" dirty="0">
                <a:solidFill>
                  <a:schemeClr val="accent3"/>
                </a:solidFill>
              </a:rPr>
              <a:t>Lo que ya tenemos</a:t>
            </a:r>
            <a:endParaRPr lang="en-US" sz="1600" dirty="0"/>
          </a:p>
        </p:txBody>
      </p:sp>
      <p:sp>
        <p:nvSpPr>
          <p:cNvPr id="17" name="Text 12"/>
          <p:cNvSpPr txBox="1"/>
          <p:nvPr/>
        </p:nvSpPr>
        <p:spPr>
          <a:xfrm>
            <a:off x="6080760" y="1965960"/>
            <a:ext cx="1005840" cy="685800"/>
          </a:xfrm>
          <a:prstGeom prst="rect">
            <a:avLst/>
          </a:prstGeom>
          <a:noFill/>
          <a:ln/>
        </p:spPr>
        <p:txBody>
          <a:bodyPr wrap="square" lIns="0" tIns="0" rIns="0" bIns="0" rtlCol="0" anchor="ctr"/>
          <a:lstStyle/>
          <a:p>
            <a:pPr marL="0" indent="0">
              <a:buNone/>
            </a:pPr>
            <a:r>
              <a:rPr lang="en-US" sz="3600" b="1" dirty="0">
                <a:solidFill>
                  <a:schemeClr val="accent1"/>
                </a:solidFill>
              </a:rPr>
              <a:t>33</a:t>
            </a:r>
            <a:endParaRPr lang="en-US" sz="3600" dirty="0"/>
          </a:p>
        </p:txBody>
      </p:sp>
      <p:sp>
        <p:nvSpPr>
          <p:cNvPr id="18" name="Text 13"/>
          <p:cNvSpPr txBox="1"/>
          <p:nvPr/>
        </p:nvSpPr>
        <p:spPr>
          <a:xfrm>
            <a:off x="7132320" y="1965960"/>
            <a:ext cx="1325880" cy="685800"/>
          </a:xfrm>
          <a:prstGeom prst="rect">
            <a:avLst/>
          </a:prstGeom>
          <a:noFill/>
          <a:ln/>
        </p:spPr>
        <p:txBody>
          <a:bodyPr wrap="square" lIns="0" tIns="0" rIns="0" bIns="0" rtlCol="0" anchor="ctr"/>
          <a:lstStyle/>
          <a:p>
            <a:pPr marL="0" indent="0">
              <a:buNone/>
            </a:pPr>
            <a:r>
              <a:rPr lang="en-US" sz="1400" dirty="0">
                <a:solidFill>
                  <a:schemeClr val="bg1"/>
                </a:solidFill>
              </a:rPr>
              <a:t>usuarios</a:t>
            </a:r>
            <a:endParaRPr lang="en-US" sz="1400" dirty="0"/>
          </a:p>
        </p:txBody>
      </p:sp>
      <p:sp>
        <p:nvSpPr>
          <p:cNvPr id="19" name="Text 14"/>
          <p:cNvSpPr txBox="1"/>
          <p:nvPr/>
        </p:nvSpPr>
        <p:spPr>
          <a:xfrm>
            <a:off x="6080760" y="2788920"/>
            <a:ext cx="1005840" cy="685800"/>
          </a:xfrm>
          <a:prstGeom prst="rect">
            <a:avLst/>
          </a:prstGeom>
          <a:noFill/>
          <a:ln/>
        </p:spPr>
        <p:txBody>
          <a:bodyPr wrap="square" lIns="0" tIns="0" rIns="0" bIns="0" rtlCol="0" anchor="ctr"/>
          <a:lstStyle/>
          <a:p>
            <a:pPr marL="0" indent="0">
              <a:buNone/>
            </a:pPr>
            <a:r>
              <a:rPr lang="en-US" sz="3600" b="1" dirty="0">
                <a:solidFill>
                  <a:schemeClr val="accent1"/>
                </a:solidFill>
              </a:rPr>
              <a:t>868</a:t>
            </a:r>
            <a:endParaRPr lang="en-US" sz="3600" dirty="0"/>
          </a:p>
        </p:txBody>
      </p:sp>
      <p:sp>
        <p:nvSpPr>
          <p:cNvPr id="20" name="Text 15"/>
          <p:cNvSpPr txBox="1"/>
          <p:nvPr/>
        </p:nvSpPr>
        <p:spPr>
          <a:xfrm>
            <a:off x="7132320" y="2788920"/>
            <a:ext cx="1325880" cy="685800"/>
          </a:xfrm>
          <a:prstGeom prst="rect">
            <a:avLst/>
          </a:prstGeom>
          <a:noFill/>
          <a:ln/>
        </p:spPr>
        <p:txBody>
          <a:bodyPr wrap="square" lIns="0" tIns="0" rIns="0" bIns="0" rtlCol="0" anchor="ctr"/>
          <a:lstStyle/>
          <a:p>
            <a:pPr marL="0" indent="0">
              <a:buNone/>
            </a:pPr>
            <a:r>
              <a:rPr lang="en-US" sz="1400" dirty="0">
                <a:solidFill>
                  <a:schemeClr val="bg1"/>
                </a:solidFill>
              </a:rPr>
              <a:t>días de datos limpios</a:t>
            </a:r>
            <a:endParaRPr lang="en-US" sz="1400" dirty="0"/>
          </a:p>
        </p:txBody>
      </p:sp>
      <p:sp>
        <p:nvSpPr>
          <p:cNvPr id="21" name="Text 16"/>
          <p:cNvSpPr txBox="1"/>
          <p:nvPr/>
        </p:nvSpPr>
        <p:spPr>
          <a:xfrm>
            <a:off x="6080760" y="3611880"/>
            <a:ext cx="1005840" cy="685800"/>
          </a:xfrm>
          <a:prstGeom prst="rect">
            <a:avLst/>
          </a:prstGeom>
          <a:noFill/>
          <a:ln/>
        </p:spPr>
        <p:txBody>
          <a:bodyPr wrap="square" lIns="0" tIns="0" rIns="0" bIns="0" rtlCol="0" anchor="ctr"/>
          <a:lstStyle/>
          <a:p>
            <a:pPr marL="0" indent="0">
              <a:buNone/>
            </a:pPr>
            <a:r>
              <a:rPr lang="en-US" sz="3600" b="1" dirty="0">
                <a:solidFill>
                  <a:schemeClr val="accent1"/>
                </a:solidFill>
              </a:rPr>
              <a:t>2</a:t>
            </a:r>
            <a:endParaRPr lang="en-US" sz="3600" dirty="0"/>
          </a:p>
        </p:txBody>
      </p:sp>
      <p:sp>
        <p:nvSpPr>
          <p:cNvPr id="22" name="Text 17"/>
          <p:cNvSpPr txBox="1"/>
          <p:nvPr/>
        </p:nvSpPr>
        <p:spPr>
          <a:xfrm>
            <a:off x="7132320" y="3611880"/>
            <a:ext cx="1325880" cy="685800"/>
          </a:xfrm>
          <a:prstGeom prst="rect">
            <a:avLst/>
          </a:prstGeom>
          <a:noFill/>
          <a:ln/>
        </p:spPr>
        <p:txBody>
          <a:bodyPr wrap="square" lIns="0" tIns="0" rIns="0" bIns="0" rtlCol="0" anchor="ctr"/>
          <a:lstStyle/>
          <a:p>
            <a:pPr marL="0" indent="0">
              <a:buNone/>
            </a:pPr>
            <a:r>
              <a:rPr lang="en-US" sz="1400" dirty="0">
                <a:solidFill>
                  <a:schemeClr val="bg1"/>
                </a:solidFill>
              </a:rPr>
              <a:t>clases reutilizables</a:t>
            </a:r>
            <a:endParaRPr lang="en-US" sz="1400" dirty="0"/>
          </a:p>
        </p:txBody>
      </p:sp>
      <p:sp>
        <p:nvSpPr>
          <p:cNvPr id="25" name="Slide Number Placeholder 0"/>
          <p:cNvSpPr>
            <a:spLocks noGrp="1"/>
          </p:cNvSpPr>
          <p:nvPr>
            <p:ph type="sldNum" sz="quarter" idx="4294967295"/>
          </p:nvPr>
        </p:nvSpPr>
        <p:spPr>
          <a:xfrm>
            <a:off x="813816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ataMiner Pulse">
  <a:themeElements>
    <a:clrScheme name="DataMiner Pulse">
      <a:dk1>
        <a:srgbClr val="0B2B36"/>
      </a:dk1>
      <a:lt1>
        <a:srgbClr val="FFFFFF"/>
      </a:lt1>
      <a:dk2>
        <a:srgbClr val="12404F"/>
      </a:dk2>
      <a:lt2>
        <a:srgbClr val="EAF2F1"/>
      </a:lt2>
      <a:accent1>
        <a:srgbClr val="FF6B5B"/>
      </a:accent1>
      <a:accent2>
        <a:srgbClr val="1FA89A"/>
      </a:accent2>
      <a:accent3>
        <a:srgbClr val="F2B84B"/>
      </a:accent3>
      <a:accent4>
        <a:srgbClr val="8FB8B2"/>
      </a:accent4>
      <a:accent5>
        <a:srgbClr val="56737A"/>
      </a:accent5>
      <a:accent6>
        <a:srgbClr val="3E7C8C"/>
      </a:accent6>
      <a:hlink>
        <a:srgbClr val="1FA89A"/>
      </a:hlink>
      <a:folHlink>
        <a:srgbClr val="56737A"/>
      </a:folHlink>
    </a:clrScheme>
    <a:fontScheme name="DataMiner 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206</TotalTime>
  <Words>850</Words>
  <Application>Microsoft Office PowerPoint</Application>
  <PresentationFormat>Presentación en pantalla (16:9)</PresentationFormat>
  <Paragraphs>113</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Aptos</vt:lpstr>
      <vt:lpstr>Arial</vt:lpstr>
      <vt:lpstr>Calibri</vt:lpstr>
      <vt:lpstr>Cambria</vt:lpstr>
      <vt:lpstr>Courier New</vt:lpstr>
      <vt:lpstr>Heebo Light</vt:lpstr>
      <vt:lpstr>DataMiner Pulse</vt:lpstr>
      <vt:lpstr>Proyecto Sedentarios activos</vt:lpstr>
      <vt:lpstr>Primer problema</vt:lpstr>
      <vt:lpstr>Por capas</vt:lpstr>
      <vt:lpstr>Datos originales VS Datos transformados</vt:lpstr>
      <vt:lpstr>Lo que dicen los datos</vt:lpstr>
      <vt:lpstr>Listos para machine learning</vt:lpstr>
      <vt:lpstr>Reglas que se entienden</vt:lpstr>
      <vt:lpstr>Siguiente paso: modelar</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Data-MinerProyecto: Pitch</dc:title>
  <dc:subject>PptxGenJS Presentation</dc:subject>
  <dc:creator>Equipo Data-MinerProyecto</dc:creator>
  <cp:lastModifiedBy>Cuenta Microsoft</cp:lastModifiedBy>
  <cp:revision>10</cp:revision>
  <dcterms:created xsi:type="dcterms:W3CDTF">2026-10-25T22:52:38Z</dcterms:created>
  <dcterms:modified xsi:type="dcterms:W3CDTF">2026-10-26T15:41:49Z</dcterms:modified>
</cp:coreProperties>
</file>